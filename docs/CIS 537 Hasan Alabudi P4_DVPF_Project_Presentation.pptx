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65" r:id="rId2"/>
    <p:sldId id="266" r:id="rId3"/>
    <p:sldId id="267" r:id="rId4"/>
    <p:sldId id="268" r:id="rId5"/>
    <p:sldId id="269" r:id="rId6"/>
    <p:sldId id="270" r:id="rId7"/>
    <p:sldId id="271" r:id="rId8"/>
    <p:sldId id="277" r:id="rId9"/>
    <p:sldId id="278" r:id="rId10"/>
    <p:sldId id="272" r:id="rId11"/>
    <p:sldId id="273" r:id="rId12"/>
    <p:sldId id="280" r:id="rId13"/>
    <p:sldId id="281" r:id="rId14"/>
    <p:sldId id="282" r:id="rId15"/>
    <p:sldId id="283" r:id="rId16"/>
    <p:sldId id="284" r:id="rId17"/>
    <p:sldId id="285" r:id="rId18"/>
    <p:sldId id="274" r:id="rId19"/>
    <p:sldId id="279" r:id="rId20"/>
    <p:sldId id="275"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56A83"/>
    <a:srgbClr val="376092"/>
    <a:srgbClr val="F7F9F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328" autoAdjust="0"/>
    <p:restoredTop sz="96723" autoAdjust="0"/>
  </p:normalViewPr>
  <p:slideViewPr>
    <p:cSldViewPr snapToGrid="0" snapToObjects="1">
      <p:cViewPr varScale="1">
        <p:scale>
          <a:sx n="122" d="100"/>
          <a:sy n="122" d="100"/>
        </p:scale>
        <p:origin x="1974" y="2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3F69D8-7F29-4BA6-8183-D4781BE42CDD}" type="datetimeFigureOut">
              <a:rPr lang="en-US" smtClean="0"/>
              <a:t>4/16/2026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8DFD11-A2E7-4210-99A3-BE4A484B901A}" type="slidenum">
              <a:rPr lang="en-US" smtClean="0"/>
              <a:t>‹#›</a:t>
            </a:fld>
            <a:endParaRPr lang="en-US"/>
          </a:p>
        </p:txBody>
      </p:sp>
    </p:spTree>
    <p:extLst>
      <p:ext uri="{BB962C8B-B14F-4D97-AF65-F5344CB8AC3E}">
        <p14:creationId xmlns:p14="http://schemas.microsoft.com/office/powerpoint/2010/main" val="393887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8DFD11-A2E7-4210-99A3-BE4A484B901A}" type="slidenum">
              <a:rPr lang="en-US" smtClean="0"/>
              <a:t>11</a:t>
            </a:fld>
            <a:endParaRPr lang="en-US"/>
          </a:p>
        </p:txBody>
      </p:sp>
    </p:spTree>
    <p:extLst>
      <p:ext uri="{BB962C8B-B14F-4D97-AF65-F5344CB8AC3E}">
        <p14:creationId xmlns:p14="http://schemas.microsoft.com/office/powerpoint/2010/main" val="22374843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406B6-8ADD-3AC2-724D-0684EDE59D11}"/>
              </a:ext>
            </a:extLst>
          </p:cNvPr>
          <p:cNvSpPr>
            <a:spLocks noGrp="1"/>
          </p:cNvSpPr>
          <p:nvPr>
            <p:ph type="ctrTitle"/>
          </p:nvPr>
        </p:nvSpPr>
        <p:spPr>
          <a:xfrm>
            <a:off x="79513" y="1120242"/>
            <a:ext cx="9144000" cy="1470025"/>
          </a:xfrm>
        </p:spPr>
        <p:txBody>
          <a:bodyPr>
            <a:noAutofit/>
          </a:bodyPr>
          <a:lstStyle/>
          <a:p>
            <a:r>
              <a:rPr lang="en-US" sz="3600" b="1" dirty="0"/>
              <a:t>P4-DVPF Dynamic Verification of Packets </a:t>
            </a:r>
            <a:r>
              <a:rPr lang="en-US" sz="3600" b="1" dirty="0">
                <a:latin typeface="Times New Roman" panose="02020603050405020304" pitchFamily="18" charset="0"/>
                <a:cs typeface="Times New Roman" panose="02020603050405020304" pitchFamily="18" charset="0"/>
              </a:rPr>
              <a:t>Forwarding</a:t>
            </a:r>
            <a:r>
              <a:rPr lang="en-US" sz="3600" b="1" dirty="0"/>
              <a:t> Based on P4 for SDN</a:t>
            </a:r>
          </a:p>
        </p:txBody>
      </p:sp>
      <p:pic>
        <p:nvPicPr>
          <p:cNvPr id="2055" name="Picture 7" descr="A yellow letter on a blue background&#10;&#10;AI-generated content may be incorrect.">
            <a:extLst>
              <a:ext uri="{FF2B5EF4-FFF2-40B4-BE49-F238E27FC236}">
                <a16:creationId xmlns:a16="http://schemas.microsoft.com/office/drawing/2014/main" id="{FD540C1C-6F1E-BBFC-FE4A-7EA62AAC54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0347" y="37190"/>
            <a:ext cx="828675" cy="8191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5EE6C7A5-F1E4-E6AB-F18F-D65A982AC6C3}"/>
              </a:ext>
            </a:extLst>
          </p:cNvPr>
          <p:cNvSpPr>
            <a:spLocks noChangeArrowheads="1"/>
          </p:cNvSpPr>
          <p:nvPr/>
        </p:nvSpPr>
        <p:spPr bwMode="auto">
          <a:xfrm>
            <a:off x="978010" y="-203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9">
            <a:extLst>
              <a:ext uri="{FF2B5EF4-FFF2-40B4-BE49-F238E27FC236}">
                <a16:creationId xmlns:a16="http://schemas.microsoft.com/office/drawing/2014/main" id="{EA2B6B4C-08E0-C9FE-58F9-D5F0939263B6}"/>
              </a:ext>
            </a:extLst>
          </p:cNvPr>
          <p:cNvSpPr>
            <a:spLocks noChangeArrowheads="1"/>
          </p:cNvSpPr>
          <p:nvPr/>
        </p:nvSpPr>
        <p:spPr bwMode="auto">
          <a:xfrm>
            <a:off x="0" y="3806774"/>
            <a:ext cx="9144000"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defTabSz="914400" eaLnBrk="0" fontAlgn="base" hangingPunct="0">
              <a:spcBef>
                <a:spcPct val="0"/>
              </a:spcBef>
              <a:spcAft>
                <a:spcPct val="0"/>
              </a:spcAft>
            </a:pPr>
            <a:r>
              <a:rPr kumimoji="0" lang="en-US" altLang="zh-CN" sz="2000" b="1" i="0" u="none" strike="noStrike" cap="none" normalizeH="0" baseline="0" dirty="0">
                <a:ln>
                  <a:noFill/>
                </a:ln>
                <a:solidFill>
                  <a:schemeClr val="tx2">
                    <a:lumMod val="50000"/>
                  </a:schemeClr>
                </a:solidFill>
                <a:effectLst/>
                <a:latin typeface="Times New Roman" panose="02020603050405020304" pitchFamily="18" charset="0"/>
                <a:ea typeface="SimSun" panose="02010600030101010101" pitchFamily="2" charset="-122"/>
                <a:cs typeface="Times New Roman" panose="02020603050405020304" pitchFamily="18" charset="0"/>
              </a:rPr>
              <a:t>CIS 537 - Advanced Networking </a:t>
            </a:r>
            <a:r>
              <a:rPr lang="en-US" altLang="zh-CN" sz="2000" b="1" dirty="0">
                <a:solidFill>
                  <a:schemeClr val="tx2">
                    <a:lumMod val="50000"/>
                  </a:schemeClr>
                </a:solidFill>
                <a:latin typeface="Times New Roman" panose="02020603050405020304" pitchFamily="18" charset="0"/>
                <a:cs typeface="Times New Roman" panose="02020603050405020304" pitchFamily="18" charset="0"/>
              </a:rPr>
              <a:t>Final Project</a:t>
            </a:r>
            <a:r>
              <a:rPr kumimoji="0" lang="en-US" altLang="zh-CN" sz="2000" b="1" i="0" u="none" strike="noStrike" cap="none" normalizeH="0" baseline="0" dirty="0">
                <a:ln>
                  <a:noFill/>
                </a:ln>
                <a:solidFill>
                  <a:schemeClr val="tx2">
                    <a:lumMod val="50000"/>
                  </a:schemeClr>
                </a:solidFill>
                <a:effectLst/>
                <a:latin typeface="Times New Roman" panose="02020603050405020304" pitchFamily="18" charset="0"/>
                <a:ea typeface="SimSun" panose="02010600030101010101" pitchFamily="2" charset="-122"/>
                <a:cs typeface="Times New Roman" panose="02020603050405020304" pitchFamily="18" charset="0"/>
              </a:rPr>
              <a:t> Winter 2026</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rPr>
              <a:t>Replication of a Programmable Data Plane Security Framework for SDN</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2">
                    <a:lumMod val="50000"/>
                  </a:schemeClr>
                </a:solidFill>
                <a:effectLst/>
                <a:latin typeface="Times New Roman" panose="02020603050405020304" pitchFamily="18" charset="0"/>
                <a:ea typeface="SimSun" panose="02010600030101010101" pitchFamily="2" charset="-122"/>
                <a:cs typeface="Times New Roman" panose="02020603050405020304" pitchFamily="18" charset="0"/>
              </a:rPr>
              <a:t>Hasan Alabudi Section 2</a:t>
            </a:r>
            <a:endParaRPr kumimoji="0" lang="en-US" altLang="zh-CN" sz="2000" b="1" i="0"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26779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a:extLst>
            <a:ext uri="{FF2B5EF4-FFF2-40B4-BE49-F238E27FC236}">
              <a16:creationId xmlns:a16="http://schemas.microsoft.com/office/drawing/2014/main" id="{960C2080-DCE1-4108-8C9C-A240BB275A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81EF8C-C4C2-52BA-12FB-0480603F936E}"/>
              </a:ext>
            </a:extLst>
          </p:cNvPr>
          <p:cNvSpPr>
            <a:spLocks noGrp="1"/>
          </p:cNvSpPr>
          <p:nvPr>
            <p:ph type="ctrTitle"/>
          </p:nvPr>
        </p:nvSpPr>
        <p:spPr>
          <a:xfrm>
            <a:off x="0" y="37190"/>
            <a:ext cx="9144000" cy="1470025"/>
          </a:xfrm>
        </p:spPr>
        <p:txBody>
          <a:bodyPr>
            <a:noAutofit/>
          </a:bodyPr>
          <a:lstStyle/>
          <a:p>
            <a:r>
              <a:rPr lang="en-US" sz="3600" b="1" dirty="0"/>
              <a:t>P4-DVPF Final Project</a:t>
            </a:r>
          </a:p>
        </p:txBody>
      </p:sp>
      <p:pic>
        <p:nvPicPr>
          <p:cNvPr id="2055" name="Picture 7" descr="A yellow letter on a blue background&#10;&#10;AI-generated content may be incorrect.">
            <a:extLst>
              <a:ext uri="{FF2B5EF4-FFF2-40B4-BE49-F238E27FC236}">
                <a16:creationId xmlns:a16="http://schemas.microsoft.com/office/drawing/2014/main" id="{A4AF6A05-D83E-170D-A1DA-2A981C52A5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0347" y="37190"/>
            <a:ext cx="828675" cy="8191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03A2351A-DBBD-B555-DB39-2167CD6DA3E0}"/>
              </a:ext>
            </a:extLst>
          </p:cNvPr>
          <p:cNvSpPr>
            <a:spLocks noChangeArrowheads="1"/>
          </p:cNvSpPr>
          <p:nvPr/>
        </p:nvSpPr>
        <p:spPr bwMode="auto">
          <a:xfrm>
            <a:off x="978010" y="-203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148F7FFA-1073-A2D5-D2AB-4B5EE5D87BD9}"/>
              </a:ext>
            </a:extLst>
          </p:cNvPr>
          <p:cNvSpPr txBox="1"/>
          <p:nvPr/>
        </p:nvSpPr>
        <p:spPr>
          <a:xfrm>
            <a:off x="0" y="2712512"/>
            <a:ext cx="9143999" cy="2985433"/>
          </a:xfrm>
          <a:prstGeom prst="rect">
            <a:avLst/>
          </a:prstGeom>
          <a:noFill/>
        </p:spPr>
        <p:txBody>
          <a:bodyPr wrap="square">
            <a:spAutoFit/>
          </a:bodyPr>
          <a:lstStyle/>
          <a:p>
            <a:pPr lvl="1"/>
            <a:r>
              <a:rPr lang="en-US" sz="2800" b="1" dirty="0"/>
              <a:t>Introduction:</a:t>
            </a:r>
          </a:p>
          <a:p>
            <a:pPr lvl="1"/>
            <a:r>
              <a:rPr lang="en-US" sz="2000" dirty="0"/>
              <a:t>This project replicates the P4-DVPF framework (mentioned in the article), which moves attack detection from the SDN controller into the programmable data plane using P4. I implemented a simplified version using BMv2 and evaluated it with normal and abnormal traffic.</a:t>
            </a:r>
          </a:p>
          <a:p>
            <a:pPr lvl="1"/>
            <a:r>
              <a:rPr lang="en-US" sz="2000" dirty="0"/>
              <a:t>The original paper uses machine learning techniques such as Random Forest for classification. However, in this implementation, I approximated the detection using threshold-based logic due to limitations of P4 targets and to simplify real-time processing in the data plane</a:t>
            </a:r>
            <a:endParaRPr lang="en-US" sz="2000" b="1" dirty="0">
              <a:solidFill>
                <a:srgbClr val="FFC000"/>
              </a:solidFill>
            </a:endParaRPr>
          </a:p>
        </p:txBody>
      </p:sp>
    </p:spTree>
    <p:extLst>
      <p:ext uri="{BB962C8B-B14F-4D97-AF65-F5344CB8AC3E}">
        <p14:creationId xmlns:p14="http://schemas.microsoft.com/office/powerpoint/2010/main" val="825979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a:extLst>
            <a:ext uri="{FF2B5EF4-FFF2-40B4-BE49-F238E27FC236}">
              <a16:creationId xmlns:a16="http://schemas.microsoft.com/office/drawing/2014/main" id="{1F749561-50C2-D43C-0210-986E5F7CE2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16F5BD-FE92-726F-35D6-C558700DD085}"/>
              </a:ext>
            </a:extLst>
          </p:cNvPr>
          <p:cNvSpPr>
            <a:spLocks noGrp="1"/>
          </p:cNvSpPr>
          <p:nvPr>
            <p:ph type="ctrTitle"/>
          </p:nvPr>
        </p:nvSpPr>
        <p:spPr>
          <a:xfrm>
            <a:off x="0" y="37190"/>
            <a:ext cx="9144000" cy="1470025"/>
          </a:xfrm>
        </p:spPr>
        <p:txBody>
          <a:bodyPr>
            <a:noAutofit/>
          </a:bodyPr>
          <a:lstStyle/>
          <a:p>
            <a:r>
              <a:rPr lang="en-US" sz="3600" b="1" dirty="0"/>
              <a:t>Paper Focus</a:t>
            </a:r>
          </a:p>
        </p:txBody>
      </p:sp>
      <p:pic>
        <p:nvPicPr>
          <p:cNvPr id="2055" name="Picture 7" descr="A yellow letter on a blue background&#10;&#10;AI-generated content may be incorrect.">
            <a:extLst>
              <a:ext uri="{FF2B5EF4-FFF2-40B4-BE49-F238E27FC236}">
                <a16:creationId xmlns:a16="http://schemas.microsoft.com/office/drawing/2014/main" id="{2A259478-795C-3A48-9B7C-280995048B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0347" y="37190"/>
            <a:ext cx="828675" cy="8191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B6FC3B92-F558-B8AA-5D0A-64B18F761E0D}"/>
              </a:ext>
            </a:extLst>
          </p:cNvPr>
          <p:cNvSpPr>
            <a:spLocks noChangeArrowheads="1"/>
          </p:cNvSpPr>
          <p:nvPr/>
        </p:nvSpPr>
        <p:spPr bwMode="auto">
          <a:xfrm>
            <a:off x="978010" y="-203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6D84C326-6110-5D51-45F8-56AB07AAC20E}"/>
              </a:ext>
            </a:extLst>
          </p:cNvPr>
          <p:cNvSpPr txBox="1"/>
          <p:nvPr/>
        </p:nvSpPr>
        <p:spPr>
          <a:xfrm>
            <a:off x="0" y="2712512"/>
            <a:ext cx="9143999" cy="1815882"/>
          </a:xfrm>
          <a:prstGeom prst="rect">
            <a:avLst/>
          </a:prstGeom>
          <a:noFill/>
        </p:spPr>
        <p:txBody>
          <a:bodyPr wrap="square">
            <a:spAutoFit/>
          </a:bodyPr>
          <a:lstStyle/>
          <a:p>
            <a:r>
              <a:rPr lang="en-US" sz="2800" b="1" dirty="0"/>
              <a:t>The article focuses on the three main objectives:</a:t>
            </a:r>
          </a:p>
          <a:p>
            <a:pPr marL="971550" lvl="1" indent="-514350">
              <a:buFont typeface="+mj-lt"/>
              <a:buAutoNum type="arabicPeriod"/>
            </a:pPr>
            <a:r>
              <a:rPr lang="en-US" sz="2800" dirty="0"/>
              <a:t>P4-DVPF Framework</a:t>
            </a:r>
          </a:p>
          <a:p>
            <a:pPr marL="971550" lvl="1" indent="-514350">
              <a:buFont typeface="+mj-lt"/>
              <a:buAutoNum type="arabicPeriod"/>
            </a:pPr>
            <a:r>
              <a:rPr lang="en-US" sz="2800" dirty="0"/>
              <a:t>Detects attacks directly in the data plane using P4</a:t>
            </a:r>
          </a:p>
          <a:p>
            <a:pPr marL="971550" lvl="1" indent="-514350">
              <a:buFont typeface="+mj-lt"/>
              <a:buAutoNum type="arabicPeriod"/>
            </a:pPr>
            <a:r>
              <a:rPr lang="en-US" sz="2800" dirty="0"/>
              <a:t>Reduces controller dependency</a:t>
            </a:r>
          </a:p>
        </p:txBody>
      </p:sp>
    </p:spTree>
    <p:extLst>
      <p:ext uri="{BB962C8B-B14F-4D97-AF65-F5344CB8AC3E}">
        <p14:creationId xmlns:p14="http://schemas.microsoft.com/office/powerpoint/2010/main" val="959218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a:extLst>
            <a:ext uri="{FF2B5EF4-FFF2-40B4-BE49-F238E27FC236}">
              <a16:creationId xmlns:a16="http://schemas.microsoft.com/office/drawing/2014/main" id="{62D8ED06-165E-E99C-746B-29173E3F28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78A6C4-812F-CE53-F466-66EEBE45835D}"/>
              </a:ext>
            </a:extLst>
          </p:cNvPr>
          <p:cNvSpPr>
            <a:spLocks noGrp="1"/>
          </p:cNvSpPr>
          <p:nvPr>
            <p:ph type="ctrTitle"/>
          </p:nvPr>
        </p:nvSpPr>
        <p:spPr>
          <a:xfrm>
            <a:off x="0" y="37190"/>
            <a:ext cx="9144000" cy="1470025"/>
          </a:xfrm>
        </p:spPr>
        <p:txBody>
          <a:bodyPr>
            <a:noAutofit/>
          </a:bodyPr>
          <a:lstStyle/>
          <a:p>
            <a:r>
              <a:rPr lang="en-US" sz="3600" b="1" dirty="0">
                <a:solidFill>
                  <a:schemeClr val="tx2">
                    <a:lumMod val="50000"/>
                  </a:schemeClr>
                </a:solidFill>
              </a:rPr>
              <a:t>Main Contribution</a:t>
            </a:r>
          </a:p>
        </p:txBody>
      </p:sp>
      <p:pic>
        <p:nvPicPr>
          <p:cNvPr id="2055" name="Picture 7" descr="A yellow letter on a blue background&#10;&#10;AI-generated content may be incorrect.">
            <a:extLst>
              <a:ext uri="{FF2B5EF4-FFF2-40B4-BE49-F238E27FC236}">
                <a16:creationId xmlns:a16="http://schemas.microsoft.com/office/drawing/2014/main" id="{266F470B-F17D-9892-CF58-9BD6B28505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0347" y="37190"/>
            <a:ext cx="828675" cy="8191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68D4EA2E-2994-9E80-7742-550AB076EF35}"/>
              </a:ext>
            </a:extLst>
          </p:cNvPr>
          <p:cNvSpPr>
            <a:spLocks noChangeArrowheads="1"/>
          </p:cNvSpPr>
          <p:nvPr/>
        </p:nvSpPr>
        <p:spPr bwMode="auto">
          <a:xfrm>
            <a:off x="978010" y="-203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E1C8A70C-1106-BD39-4A2E-C02FB31BB017}"/>
              </a:ext>
            </a:extLst>
          </p:cNvPr>
          <p:cNvSpPr txBox="1"/>
          <p:nvPr/>
        </p:nvSpPr>
        <p:spPr>
          <a:xfrm>
            <a:off x="-64977" y="1611995"/>
            <a:ext cx="9143999" cy="2785378"/>
          </a:xfrm>
          <a:prstGeom prst="rect">
            <a:avLst/>
          </a:prstGeom>
          <a:noFill/>
        </p:spPr>
        <p:txBody>
          <a:bodyPr wrap="square">
            <a:spAutoFit/>
          </a:bodyPr>
          <a:lstStyle/>
          <a:p>
            <a:pPr marL="285750" indent="-285750">
              <a:buFont typeface="Arial" panose="020B0604020202020204" pitchFamily="34" charset="0"/>
              <a:buChar char="•"/>
            </a:pPr>
            <a:r>
              <a:rPr lang="en-US" sz="2800" b="1" dirty="0">
                <a:solidFill>
                  <a:schemeClr val="tx2">
                    <a:lumMod val="50000"/>
                  </a:schemeClr>
                </a:solidFill>
              </a:rPr>
              <a:t>Moved detection from controller to switch</a:t>
            </a:r>
          </a:p>
          <a:p>
            <a:pPr marL="742950" lvl="1" indent="-285750">
              <a:buFont typeface="Arial" panose="020B0604020202020204" pitchFamily="34" charset="0"/>
              <a:buChar char="•"/>
            </a:pPr>
            <a:r>
              <a:rPr lang="en-US" sz="1200" b="1" dirty="0">
                <a:solidFill>
                  <a:schemeClr val="tx2">
                    <a:lumMod val="50000"/>
                  </a:schemeClr>
                </a:solidFill>
              </a:rPr>
              <a:t>In traditional SDN, packets must be sent to the controller for analysis, which introduces delay and overhead. In this work, detection logic is implemented directly inside the P4 switch (data plane), allowing the switch itself to analyze packet behavior and make decisions without relying on the controller.</a:t>
            </a:r>
          </a:p>
          <a:p>
            <a:pPr marL="285750" indent="-285750">
              <a:buFont typeface="Arial" panose="020B0604020202020204" pitchFamily="34" charset="0"/>
              <a:buChar char="•"/>
            </a:pPr>
            <a:r>
              <a:rPr lang="en-US" sz="2800" b="1" dirty="0">
                <a:solidFill>
                  <a:schemeClr val="tx2">
                    <a:lumMod val="50000"/>
                  </a:schemeClr>
                </a:solidFill>
              </a:rPr>
              <a:t>Real-time attack detection</a:t>
            </a:r>
          </a:p>
          <a:p>
            <a:pPr marL="742950" lvl="1" indent="-285750">
              <a:buFont typeface="Arial" panose="020B0604020202020204" pitchFamily="34" charset="0"/>
              <a:buChar char="•"/>
            </a:pPr>
            <a:r>
              <a:rPr lang="en-US" sz="1100" b="1" dirty="0">
                <a:solidFill>
                  <a:schemeClr val="tx2">
                    <a:lumMod val="50000"/>
                  </a:schemeClr>
                </a:solidFill>
              </a:rPr>
              <a:t>Because detection is performed inside the switch pipeline, every packet is analyzed as it is processed. This enables immediate identification of abnormal traffic patterns or tampered packets, allowing the system to detect attacks instantly as they occur.</a:t>
            </a:r>
          </a:p>
          <a:p>
            <a:pPr marL="285750" indent="-285750">
              <a:buFont typeface="Arial" panose="020B0604020202020204" pitchFamily="34" charset="0"/>
              <a:buChar char="•"/>
            </a:pPr>
            <a:r>
              <a:rPr lang="en-US" sz="2800" b="1" dirty="0">
                <a:solidFill>
                  <a:schemeClr val="tx2">
                    <a:lumMod val="50000"/>
                  </a:schemeClr>
                </a:solidFill>
              </a:rPr>
              <a:t>Lower latency</a:t>
            </a:r>
          </a:p>
          <a:p>
            <a:pPr marL="742950" lvl="1" indent="-285750">
              <a:buFont typeface="Arial" panose="020B0604020202020204" pitchFamily="34" charset="0"/>
              <a:buChar char="•"/>
            </a:pPr>
            <a:r>
              <a:rPr lang="en-US" sz="1100" b="1" dirty="0">
                <a:solidFill>
                  <a:schemeClr val="tx2">
                    <a:lumMod val="50000"/>
                  </a:schemeClr>
                </a:solidFill>
              </a:rPr>
              <a:t>Eliminating the need to send packets to the controller significantly reduces processing delay. Since decisions are made locally within the switch, packets are either forwarded or dropped without additional communication, resulting in faster response times and improved network performance.</a:t>
            </a:r>
          </a:p>
        </p:txBody>
      </p:sp>
    </p:spTree>
    <p:extLst>
      <p:ext uri="{BB962C8B-B14F-4D97-AF65-F5344CB8AC3E}">
        <p14:creationId xmlns:p14="http://schemas.microsoft.com/office/powerpoint/2010/main" val="3540441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a:extLst>
            <a:ext uri="{FF2B5EF4-FFF2-40B4-BE49-F238E27FC236}">
              <a16:creationId xmlns:a16="http://schemas.microsoft.com/office/drawing/2014/main" id="{C2B61A88-8E27-54DF-D12D-984404E926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E8B51A-6755-8A70-3A5F-07F129F22A3F}"/>
              </a:ext>
            </a:extLst>
          </p:cNvPr>
          <p:cNvSpPr>
            <a:spLocks noGrp="1"/>
          </p:cNvSpPr>
          <p:nvPr>
            <p:ph type="ctrTitle"/>
          </p:nvPr>
        </p:nvSpPr>
        <p:spPr>
          <a:xfrm>
            <a:off x="0" y="37190"/>
            <a:ext cx="9144000" cy="1470025"/>
          </a:xfrm>
        </p:spPr>
        <p:txBody>
          <a:bodyPr>
            <a:noAutofit/>
          </a:bodyPr>
          <a:lstStyle/>
          <a:p>
            <a:r>
              <a:rPr lang="en-US" sz="3600" b="1" dirty="0">
                <a:solidFill>
                  <a:schemeClr val="tx2">
                    <a:lumMod val="50000"/>
                  </a:schemeClr>
                </a:solidFill>
              </a:rPr>
              <a:t>Attack Types</a:t>
            </a:r>
          </a:p>
        </p:txBody>
      </p:sp>
      <p:pic>
        <p:nvPicPr>
          <p:cNvPr id="2055" name="Picture 7" descr="A yellow letter on a blue background&#10;&#10;AI-generated content may be incorrect.">
            <a:extLst>
              <a:ext uri="{FF2B5EF4-FFF2-40B4-BE49-F238E27FC236}">
                <a16:creationId xmlns:a16="http://schemas.microsoft.com/office/drawing/2014/main" id="{62F5C8E8-5118-09DF-8B6D-C95476F9D7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0347" y="37190"/>
            <a:ext cx="828675" cy="8191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539E8361-5736-59E9-2C10-E7A561DA328A}"/>
              </a:ext>
            </a:extLst>
          </p:cNvPr>
          <p:cNvSpPr>
            <a:spLocks noChangeArrowheads="1"/>
          </p:cNvSpPr>
          <p:nvPr/>
        </p:nvSpPr>
        <p:spPr bwMode="auto">
          <a:xfrm>
            <a:off x="978010" y="-203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78D8B5FE-7F7B-0BC4-77E9-CA3FD4FA39BD}"/>
              </a:ext>
            </a:extLst>
          </p:cNvPr>
          <p:cNvSpPr txBox="1"/>
          <p:nvPr/>
        </p:nvSpPr>
        <p:spPr>
          <a:xfrm>
            <a:off x="72588" y="1927584"/>
            <a:ext cx="9143999" cy="954107"/>
          </a:xfrm>
          <a:prstGeom prst="rect">
            <a:avLst/>
          </a:prstGeom>
          <a:noFill/>
        </p:spPr>
        <p:txBody>
          <a:bodyPr wrap="square">
            <a:spAutoFit/>
          </a:bodyPr>
          <a:lstStyle/>
          <a:p>
            <a:r>
              <a:rPr lang="en-US" sz="2800" b="1" dirty="0">
                <a:solidFill>
                  <a:schemeClr val="tx2">
                    <a:lumMod val="50000"/>
                  </a:schemeClr>
                </a:solidFill>
              </a:rPr>
              <a:t>1. New Stream Attack (traffic flooding)</a:t>
            </a:r>
          </a:p>
          <a:p>
            <a:r>
              <a:rPr lang="en-US" sz="2800" b="1" dirty="0">
                <a:solidFill>
                  <a:schemeClr val="tx2">
                    <a:lumMod val="50000"/>
                  </a:schemeClr>
                </a:solidFill>
              </a:rPr>
              <a:t>2. Hijacking Attack (packet modification)</a:t>
            </a:r>
          </a:p>
        </p:txBody>
      </p:sp>
    </p:spTree>
    <p:extLst>
      <p:ext uri="{BB962C8B-B14F-4D97-AF65-F5344CB8AC3E}">
        <p14:creationId xmlns:p14="http://schemas.microsoft.com/office/powerpoint/2010/main" val="1674467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a:extLst>
            <a:ext uri="{FF2B5EF4-FFF2-40B4-BE49-F238E27FC236}">
              <a16:creationId xmlns:a16="http://schemas.microsoft.com/office/drawing/2014/main" id="{9DA4E820-37A9-4601-5CCC-65BDF97323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B7E7E-A464-C3E1-E1C9-627224DACC59}"/>
              </a:ext>
            </a:extLst>
          </p:cNvPr>
          <p:cNvSpPr>
            <a:spLocks noGrp="1"/>
          </p:cNvSpPr>
          <p:nvPr>
            <p:ph type="ctrTitle"/>
          </p:nvPr>
        </p:nvSpPr>
        <p:spPr>
          <a:xfrm>
            <a:off x="0" y="37190"/>
            <a:ext cx="9144000" cy="1470025"/>
          </a:xfrm>
        </p:spPr>
        <p:txBody>
          <a:bodyPr>
            <a:noAutofit/>
          </a:bodyPr>
          <a:lstStyle/>
          <a:p>
            <a:r>
              <a:rPr lang="en-US" sz="3600" b="1" dirty="0">
                <a:solidFill>
                  <a:schemeClr val="tx2">
                    <a:lumMod val="50000"/>
                  </a:schemeClr>
                </a:solidFill>
              </a:rPr>
              <a:t>Implementation &amp; Detection Mechanism</a:t>
            </a:r>
          </a:p>
        </p:txBody>
      </p:sp>
      <p:pic>
        <p:nvPicPr>
          <p:cNvPr id="2055" name="Picture 7" descr="A yellow letter on a blue background&#10;&#10;AI-generated content may be incorrect.">
            <a:extLst>
              <a:ext uri="{FF2B5EF4-FFF2-40B4-BE49-F238E27FC236}">
                <a16:creationId xmlns:a16="http://schemas.microsoft.com/office/drawing/2014/main" id="{F6AF885C-BD73-AF24-9CD2-1788E97C6D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0347" y="37190"/>
            <a:ext cx="828675" cy="8191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BB7A10C-2638-93D1-0CF7-43C9532C8C4A}"/>
              </a:ext>
            </a:extLst>
          </p:cNvPr>
          <p:cNvSpPr>
            <a:spLocks noChangeArrowheads="1"/>
          </p:cNvSpPr>
          <p:nvPr/>
        </p:nvSpPr>
        <p:spPr bwMode="auto">
          <a:xfrm>
            <a:off x="978010" y="-203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0EB0FB32-0BC5-99B4-CDA7-DDFC11BA5D25}"/>
              </a:ext>
            </a:extLst>
          </p:cNvPr>
          <p:cNvSpPr txBox="1"/>
          <p:nvPr/>
        </p:nvSpPr>
        <p:spPr>
          <a:xfrm>
            <a:off x="0" y="1690062"/>
            <a:ext cx="9143999" cy="3477875"/>
          </a:xfrm>
          <a:prstGeom prst="rect">
            <a:avLst/>
          </a:prstGeom>
          <a:noFill/>
        </p:spPr>
        <p:txBody>
          <a:bodyPr wrap="square">
            <a:spAutoFit/>
          </a:bodyPr>
          <a:lstStyle/>
          <a:p>
            <a:pPr marL="285750" indent="-285750">
              <a:buFont typeface="Arial" panose="020B0604020202020204" pitchFamily="34" charset="0"/>
              <a:buChar char="•"/>
            </a:pPr>
            <a:r>
              <a:rPr lang="en-US" sz="2800" b="1" dirty="0">
                <a:solidFill>
                  <a:schemeClr val="tx2">
                    <a:lumMod val="50000"/>
                  </a:schemeClr>
                </a:solidFill>
              </a:rPr>
              <a:t>New Stream: traffic imbalance detection</a:t>
            </a:r>
          </a:p>
          <a:p>
            <a:pPr marL="742950" lvl="1" indent="-285750">
              <a:buFont typeface="Arial" panose="020B0604020202020204" pitchFamily="34" charset="0"/>
              <a:buChar char="•"/>
            </a:pPr>
            <a:r>
              <a:rPr lang="en-US" sz="1200" b="1" dirty="0">
                <a:solidFill>
                  <a:schemeClr val="tx2">
                    <a:lumMod val="50000"/>
                  </a:schemeClr>
                </a:solidFill>
              </a:rPr>
              <a:t>Monitor destination distribution using counters.</a:t>
            </a:r>
          </a:p>
          <a:p>
            <a:pPr marL="742950" lvl="1" indent="-285750">
              <a:buFont typeface="Arial" panose="020B0604020202020204" pitchFamily="34" charset="0"/>
              <a:buChar char="•"/>
            </a:pPr>
            <a:r>
              <a:rPr lang="en-US" sz="1200" b="1" dirty="0">
                <a:solidFill>
                  <a:schemeClr val="tx2">
                    <a:lumMod val="50000"/>
                  </a:schemeClr>
                </a:solidFill>
              </a:rPr>
              <a:t>Detect dominance of a single flow or destination.</a:t>
            </a:r>
          </a:p>
          <a:p>
            <a:pPr marL="742950" lvl="1" indent="-285750">
              <a:buFont typeface="Arial" panose="020B0604020202020204" pitchFamily="34" charset="0"/>
              <a:buChar char="•"/>
            </a:pPr>
            <a:r>
              <a:rPr lang="en-US" sz="1200" b="1" dirty="0">
                <a:solidFill>
                  <a:schemeClr val="tx2">
                    <a:lumMod val="50000"/>
                  </a:schemeClr>
                </a:solidFill>
              </a:rPr>
              <a:t>Use a threshold to flag abnormal behavior.</a:t>
            </a:r>
          </a:p>
          <a:p>
            <a:pPr marL="1200150" lvl="2" indent="-285750">
              <a:buFont typeface="Arial" panose="020B0604020202020204" pitchFamily="34" charset="0"/>
              <a:buChar char="•"/>
            </a:pPr>
            <a:r>
              <a:rPr lang="en-US" sz="1200" dirty="0">
                <a:solidFill>
                  <a:schemeClr val="tx2">
                    <a:lumMod val="50000"/>
                  </a:schemeClr>
                </a:solidFill>
              </a:rPr>
              <a:t>The </a:t>
            </a:r>
            <a:r>
              <a:rPr lang="en-US" sz="1200" b="1" dirty="0">
                <a:solidFill>
                  <a:schemeClr val="tx2">
                    <a:lumMod val="50000"/>
                  </a:schemeClr>
                </a:solidFill>
              </a:rPr>
              <a:t>threshold</a:t>
            </a:r>
            <a:r>
              <a:rPr lang="en-US" sz="1200" dirty="0">
                <a:solidFill>
                  <a:schemeClr val="tx2">
                    <a:lumMod val="50000"/>
                  </a:schemeClr>
                </a:solidFill>
              </a:rPr>
              <a:t> is a predefined value that determines when traffic behavior is considered </a:t>
            </a:r>
            <a:r>
              <a:rPr lang="en-US" sz="1200" b="1" dirty="0">
                <a:solidFill>
                  <a:schemeClr val="tx2">
                    <a:lumMod val="50000"/>
                  </a:schemeClr>
                </a:solidFill>
              </a:rPr>
              <a:t>abnormal (attack)</a:t>
            </a:r>
            <a:r>
              <a:rPr lang="en-US" sz="1200" dirty="0">
                <a:solidFill>
                  <a:schemeClr val="tx2">
                    <a:lumMod val="50000"/>
                  </a:schemeClr>
                </a:solidFill>
              </a:rPr>
              <a:t> instead of normal.</a:t>
            </a:r>
            <a:endParaRPr lang="en-US" sz="1200" b="1" dirty="0">
              <a:solidFill>
                <a:schemeClr val="tx2">
                  <a:lumMod val="50000"/>
                </a:schemeClr>
              </a:solidFill>
            </a:endParaRPr>
          </a:p>
          <a:p>
            <a:pPr marL="742950" lvl="1" indent="-285750">
              <a:buFont typeface="Arial" panose="020B0604020202020204" pitchFamily="34" charset="0"/>
              <a:buChar char="•"/>
            </a:pPr>
            <a:r>
              <a:rPr lang="en-US" sz="1200" b="1" dirty="0">
                <a:solidFill>
                  <a:schemeClr val="tx2">
                    <a:lumMod val="50000"/>
                  </a:schemeClr>
                </a:solidFill>
              </a:rPr>
              <a:t>Indicates flooding or abnormal traffic patterns.</a:t>
            </a:r>
          </a:p>
          <a:p>
            <a:pPr marL="285750" indent="-285750">
              <a:buFont typeface="Arial" panose="020B0604020202020204" pitchFamily="34" charset="0"/>
              <a:buChar char="•"/>
            </a:pPr>
            <a:r>
              <a:rPr lang="en-US" sz="2800" b="1" dirty="0">
                <a:solidFill>
                  <a:schemeClr val="tx2">
                    <a:lumMod val="50000"/>
                  </a:schemeClr>
                </a:solidFill>
              </a:rPr>
              <a:t>Hijacking: metadata vs packet comparison</a:t>
            </a:r>
          </a:p>
          <a:p>
            <a:pPr marL="742950" lvl="1" indent="-285750">
              <a:buFont typeface="Arial" panose="020B0604020202020204" pitchFamily="34" charset="0"/>
              <a:buChar char="•"/>
            </a:pPr>
            <a:r>
              <a:rPr lang="en-US" sz="1200" b="1" dirty="0">
                <a:solidFill>
                  <a:schemeClr val="tx2">
                    <a:lumMod val="50000"/>
                  </a:schemeClr>
                </a:solidFill>
              </a:rPr>
              <a:t>Store original destination in metadata. </a:t>
            </a:r>
          </a:p>
          <a:p>
            <a:pPr marL="742950" lvl="1" indent="-285750">
              <a:buFont typeface="Arial" panose="020B0604020202020204" pitchFamily="34" charset="0"/>
              <a:buChar char="•"/>
            </a:pPr>
            <a:r>
              <a:rPr lang="en-US" sz="1200" b="1" dirty="0">
                <a:solidFill>
                  <a:schemeClr val="tx2">
                    <a:lumMod val="50000"/>
                  </a:schemeClr>
                </a:solidFill>
              </a:rPr>
              <a:t>Compare metadata with current packet fields.</a:t>
            </a:r>
          </a:p>
          <a:p>
            <a:pPr marL="742950" lvl="1" indent="-285750">
              <a:buFont typeface="Arial" panose="020B0604020202020204" pitchFamily="34" charset="0"/>
              <a:buChar char="•"/>
            </a:pPr>
            <a:r>
              <a:rPr lang="en-US" sz="1200" b="1" dirty="0">
                <a:solidFill>
                  <a:schemeClr val="tx2">
                    <a:lumMod val="50000"/>
                  </a:schemeClr>
                </a:solidFill>
              </a:rPr>
              <a:t>Detect any modification or mismatch.</a:t>
            </a:r>
          </a:p>
          <a:p>
            <a:pPr marL="742950" lvl="1" indent="-285750">
              <a:buFont typeface="Arial" panose="020B0604020202020204" pitchFamily="34" charset="0"/>
              <a:buChar char="•"/>
            </a:pPr>
            <a:r>
              <a:rPr lang="en-US" sz="1200" b="1" dirty="0">
                <a:solidFill>
                  <a:schemeClr val="tx2">
                    <a:lumMod val="50000"/>
                  </a:schemeClr>
                </a:solidFill>
              </a:rPr>
              <a:t>Indicates packet tampering or a redirection attack</a:t>
            </a:r>
            <a:r>
              <a:rPr lang="en-US" sz="1200" b="1" dirty="0">
                <a:solidFill>
                  <a:srgbClr val="FFC000"/>
                </a:solidFill>
              </a:rPr>
              <a:t>.</a:t>
            </a:r>
          </a:p>
          <a:p>
            <a:pPr marL="285750" indent="-285750">
              <a:buFont typeface="Arial" panose="020B0604020202020204" pitchFamily="34" charset="0"/>
              <a:buChar char="•"/>
            </a:pPr>
            <a:endParaRPr lang="en-US" sz="2800" b="1" dirty="0">
              <a:solidFill>
                <a:srgbClr val="FFC000"/>
              </a:solidFill>
            </a:endParaRPr>
          </a:p>
          <a:p>
            <a:pPr marL="285750" indent="-285750">
              <a:buFont typeface="Arial" panose="020B0604020202020204" pitchFamily="34" charset="0"/>
              <a:buChar char="•"/>
            </a:pPr>
            <a:endParaRPr lang="en-US" sz="2800" b="1" dirty="0">
              <a:solidFill>
                <a:srgbClr val="FFC000"/>
              </a:solidFill>
            </a:endParaRPr>
          </a:p>
        </p:txBody>
      </p:sp>
    </p:spTree>
    <p:extLst>
      <p:ext uri="{BB962C8B-B14F-4D97-AF65-F5344CB8AC3E}">
        <p14:creationId xmlns:p14="http://schemas.microsoft.com/office/powerpoint/2010/main" val="2770974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a:extLst>
            <a:ext uri="{FF2B5EF4-FFF2-40B4-BE49-F238E27FC236}">
              <a16:creationId xmlns:a16="http://schemas.microsoft.com/office/drawing/2014/main" id="{3B259C08-B40C-491F-888D-CB0B3B675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18E1EA-7BA8-FA0D-6157-4AEBE0DF7393}"/>
              </a:ext>
            </a:extLst>
          </p:cNvPr>
          <p:cNvSpPr>
            <a:spLocks noGrp="1"/>
          </p:cNvSpPr>
          <p:nvPr>
            <p:ph type="ctrTitle"/>
          </p:nvPr>
        </p:nvSpPr>
        <p:spPr>
          <a:xfrm>
            <a:off x="0" y="37190"/>
            <a:ext cx="9144000" cy="1470025"/>
          </a:xfrm>
        </p:spPr>
        <p:txBody>
          <a:bodyPr>
            <a:noAutofit/>
          </a:bodyPr>
          <a:lstStyle/>
          <a:p>
            <a:r>
              <a:rPr lang="en-US" sz="3600" b="1">
                <a:solidFill>
                  <a:schemeClr val="tx2">
                    <a:lumMod val="50000"/>
                  </a:schemeClr>
                </a:solidFill>
              </a:rPr>
              <a:t>Replication Setup &amp; Demo</a:t>
            </a:r>
            <a:endParaRPr lang="en-US" sz="3600" b="1" dirty="0">
              <a:solidFill>
                <a:schemeClr val="tx2">
                  <a:lumMod val="50000"/>
                </a:schemeClr>
              </a:solidFill>
            </a:endParaRPr>
          </a:p>
        </p:txBody>
      </p:sp>
      <p:pic>
        <p:nvPicPr>
          <p:cNvPr id="2055" name="Picture 7" descr="A yellow letter on a blue background&#10;&#10;AI-generated content may be incorrect.">
            <a:extLst>
              <a:ext uri="{FF2B5EF4-FFF2-40B4-BE49-F238E27FC236}">
                <a16:creationId xmlns:a16="http://schemas.microsoft.com/office/drawing/2014/main" id="{3B53A184-C04E-65A9-DC2C-CF7F1BD28B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0347" y="37190"/>
            <a:ext cx="828675" cy="8191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B2FC8E5B-C18C-62BD-F287-68B1AD6FC949}"/>
              </a:ext>
            </a:extLst>
          </p:cNvPr>
          <p:cNvSpPr>
            <a:spLocks noChangeArrowheads="1"/>
          </p:cNvSpPr>
          <p:nvPr/>
        </p:nvSpPr>
        <p:spPr bwMode="auto">
          <a:xfrm>
            <a:off x="978010" y="-203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73ABA6C7-7CDD-1B13-58A3-C6F1C4D64477}"/>
              </a:ext>
            </a:extLst>
          </p:cNvPr>
          <p:cNvSpPr txBox="1"/>
          <p:nvPr/>
        </p:nvSpPr>
        <p:spPr>
          <a:xfrm>
            <a:off x="101600" y="1342906"/>
            <a:ext cx="9143999" cy="2739211"/>
          </a:xfrm>
          <a:prstGeom prst="rect">
            <a:avLst/>
          </a:prstGeom>
          <a:noFill/>
        </p:spPr>
        <p:txBody>
          <a:bodyPr wrap="square">
            <a:spAutoFit/>
          </a:bodyPr>
          <a:lstStyle/>
          <a:p>
            <a:pPr marL="285750" indent="-285750">
              <a:buFont typeface="Arial" panose="020B0604020202020204" pitchFamily="34" charset="0"/>
              <a:buChar char="•"/>
            </a:pPr>
            <a:r>
              <a:rPr lang="en-US" sz="2800" b="1">
                <a:solidFill>
                  <a:schemeClr val="tx2">
                    <a:lumMod val="50000"/>
                  </a:schemeClr>
                </a:solidFill>
              </a:rPr>
              <a:t>Mininet + BMv2</a:t>
            </a:r>
          </a:p>
          <a:p>
            <a:pPr marL="285750" indent="-285750">
              <a:buFont typeface="Arial" panose="020B0604020202020204" pitchFamily="34" charset="0"/>
              <a:buChar char="•"/>
            </a:pPr>
            <a:r>
              <a:rPr lang="en-US" sz="2800" b="1">
                <a:solidFill>
                  <a:schemeClr val="tx2">
                    <a:lumMod val="50000"/>
                  </a:schemeClr>
                </a:solidFill>
              </a:rPr>
              <a:t>P4 logic (conceptual)</a:t>
            </a:r>
          </a:p>
          <a:p>
            <a:pPr marL="285750" indent="-285750">
              <a:buFont typeface="Arial" panose="020B0604020202020204" pitchFamily="34" charset="0"/>
              <a:buChar char="•"/>
            </a:pPr>
            <a:r>
              <a:rPr lang="en-US" sz="2800" b="1">
                <a:solidFill>
                  <a:schemeClr val="tx2">
                    <a:lumMod val="50000"/>
                  </a:schemeClr>
                </a:solidFill>
              </a:rPr>
              <a:t>Python simulation for testing</a:t>
            </a:r>
          </a:p>
          <a:p>
            <a:endParaRPr lang="en-US" sz="2800" b="1">
              <a:solidFill>
                <a:schemeClr val="tx2">
                  <a:lumMod val="50000"/>
                </a:schemeClr>
              </a:solidFill>
            </a:endParaRPr>
          </a:p>
          <a:p>
            <a:r>
              <a:rPr lang="en-US" sz="2000" b="1">
                <a:solidFill>
                  <a:schemeClr val="tx2">
                    <a:lumMod val="50000"/>
                  </a:schemeClr>
                </a:solidFill>
              </a:rPr>
              <a:t>I demonstrated the replication in a controlled lab by comparing balanced traffic windows against intentionally skewed traffic distributions, then measured how quickly the detection logic flagged anomalous behavior.</a:t>
            </a:r>
            <a:endParaRPr lang="en-US" sz="2000" b="1" dirty="0">
              <a:solidFill>
                <a:schemeClr val="tx2">
                  <a:lumMod val="50000"/>
                </a:schemeClr>
              </a:solidFill>
            </a:endParaRPr>
          </a:p>
        </p:txBody>
      </p:sp>
      <p:pic>
        <p:nvPicPr>
          <p:cNvPr id="5" name="Picture 4">
            <a:extLst>
              <a:ext uri="{FF2B5EF4-FFF2-40B4-BE49-F238E27FC236}">
                <a16:creationId xmlns:a16="http://schemas.microsoft.com/office/drawing/2014/main" id="{B06793B0-AD53-1254-0F77-E218D92F1D4E}"/>
              </a:ext>
            </a:extLst>
          </p:cNvPr>
          <p:cNvPicPr>
            <a:picLocks noChangeAspect="1"/>
          </p:cNvPicPr>
          <p:nvPr/>
        </p:nvPicPr>
        <p:blipFill>
          <a:blip r:embed="rId3"/>
          <a:stretch>
            <a:fillRect/>
          </a:stretch>
        </p:blipFill>
        <p:spPr>
          <a:xfrm>
            <a:off x="93784" y="4082118"/>
            <a:ext cx="8956431" cy="2291774"/>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655458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a:extLst>
            <a:ext uri="{FF2B5EF4-FFF2-40B4-BE49-F238E27FC236}">
              <a16:creationId xmlns:a16="http://schemas.microsoft.com/office/drawing/2014/main" id="{9A6E1CDC-E6CB-BB5F-08E0-781FAB1449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6688D2-57C2-642A-AB4D-AB05F5FF254E}"/>
              </a:ext>
            </a:extLst>
          </p:cNvPr>
          <p:cNvSpPr>
            <a:spLocks noGrp="1"/>
          </p:cNvSpPr>
          <p:nvPr>
            <p:ph type="ctrTitle"/>
          </p:nvPr>
        </p:nvSpPr>
        <p:spPr>
          <a:xfrm>
            <a:off x="0" y="37190"/>
            <a:ext cx="9144000" cy="1470025"/>
          </a:xfrm>
        </p:spPr>
        <p:txBody>
          <a:bodyPr>
            <a:noAutofit/>
          </a:bodyPr>
          <a:lstStyle/>
          <a:p>
            <a:r>
              <a:rPr lang="en-US" sz="3600" b="1" dirty="0">
                <a:solidFill>
                  <a:schemeClr val="tx2">
                    <a:lumMod val="50000"/>
                  </a:schemeClr>
                </a:solidFill>
              </a:rPr>
              <a:t>Replication Setup &amp; Demo </a:t>
            </a:r>
          </a:p>
        </p:txBody>
      </p:sp>
      <p:pic>
        <p:nvPicPr>
          <p:cNvPr id="2055" name="Picture 7" descr="A yellow letter on a blue background&#10;&#10;AI-generated content may be incorrect.">
            <a:extLst>
              <a:ext uri="{FF2B5EF4-FFF2-40B4-BE49-F238E27FC236}">
                <a16:creationId xmlns:a16="http://schemas.microsoft.com/office/drawing/2014/main" id="{AC9BFE56-DA96-FB64-8953-AD615966CF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0347" y="37190"/>
            <a:ext cx="828675" cy="8191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FAAE45B8-22F0-6A40-0136-90643A7EFC77}"/>
              </a:ext>
            </a:extLst>
          </p:cNvPr>
          <p:cNvSpPr>
            <a:spLocks noChangeArrowheads="1"/>
          </p:cNvSpPr>
          <p:nvPr/>
        </p:nvSpPr>
        <p:spPr bwMode="auto">
          <a:xfrm>
            <a:off x="978010" y="-203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79DD3634-3CBD-E51E-75CC-13E5BC3D0E44}"/>
              </a:ext>
            </a:extLst>
          </p:cNvPr>
          <p:cNvSpPr txBox="1"/>
          <p:nvPr/>
        </p:nvSpPr>
        <p:spPr>
          <a:xfrm>
            <a:off x="1" y="1830480"/>
            <a:ext cx="9143999" cy="4401205"/>
          </a:xfrm>
          <a:prstGeom prst="rect">
            <a:avLst/>
          </a:prstGeom>
          <a:noFill/>
        </p:spPr>
        <p:txBody>
          <a:bodyPr wrap="square">
            <a:spAutoFit/>
          </a:bodyPr>
          <a:lstStyle/>
          <a:p>
            <a:r>
              <a:rPr lang="en-US" sz="2000" b="1" dirty="0">
                <a:solidFill>
                  <a:schemeClr val="tx2">
                    <a:lumMod val="50000"/>
                  </a:schemeClr>
                </a:solidFill>
              </a:rPr>
              <a:t>I verified the replication by comparing balanced traffic windows against intentionally skewed traffic distributions, then measured how quickly the detection logic flagged anomalous behavior. Additionally, the result was obtained from running the CLI commands, including:</a:t>
            </a:r>
          </a:p>
          <a:p>
            <a:pPr marL="285750" indent="-285750">
              <a:buFont typeface="Arial" panose="020B0604020202020204" pitchFamily="34" charset="0"/>
              <a:buChar char="•"/>
            </a:pPr>
            <a:r>
              <a:rPr lang="en-US" sz="2000" b="1" dirty="0">
                <a:solidFill>
                  <a:schemeClr val="tx2">
                    <a:lumMod val="50000"/>
                  </a:schemeClr>
                </a:solidFill>
              </a:rPr>
              <a:t>On the LINUX side:</a:t>
            </a:r>
          </a:p>
          <a:p>
            <a:pPr marL="742950" lvl="1" indent="-285750">
              <a:buFont typeface="Arial" panose="020B0604020202020204" pitchFamily="34" charset="0"/>
              <a:buChar char="•"/>
            </a:pPr>
            <a:r>
              <a:rPr lang="en-US" sz="2000" b="1" dirty="0">
                <a:solidFill>
                  <a:schemeClr val="tx2">
                    <a:lumMod val="50000"/>
                  </a:schemeClr>
                </a:solidFill>
              </a:rPr>
              <a:t>Mininet + BMv2</a:t>
            </a:r>
          </a:p>
          <a:p>
            <a:pPr marL="742950" lvl="1" indent="-285750">
              <a:buFont typeface="Arial" panose="020B0604020202020204" pitchFamily="34" charset="0"/>
              <a:buChar char="•"/>
            </a:pPr>
            <a:r>
              <a:rPr lang="en-US" sz="2000" b="1" dirty="0">
                <a:solidFill>
                  <a:schemeClr val="tx2">
                    <a:lumMod val="50000"/>
                  </a:schemeClr>
                </a:solidFill>
              </a:rPr>
              <a:t>P4 logic (conceptual)</a:t>
            </a:r>
          </a:p>
          <a:p>
            <a:pPr marL="1200150" lvl="2" indent="-285750">
              <a:buFont typeface="Arial" panose="020B0604020202020204" pitchFamily="34" charset="0"/>
              <a:buChar char="•"/>
            </a:pPr>
            <a:r>
              <a:rPr lang="en-US" sz="2000" b="1" dirty="0">
                <a:solidFill>
                  <a:schemeClr val="tx2">
                    <a:lumMod val="50000"/>
                  </a:schemeClr>
                </a:solidFill>
              </a:rPr>
              <a:t>I was able to generate </a:t>
            </a:r>
            <a:r>
              <a:rPr lang="en-US" sz="2000" b="1" dirty="0"/>
              <a:t>simple_switch_grpc </a:t>
            </a:r>
            <a:r>
              <a:rPr lang="en-US" sz="2000" dirty="0"/>
              <a:t>and run it on a separate Mininet (Terminal 1), and connect it to the switch in Terminal 2 simple_switch_CLI --thrift-port 9091, and verified that the switch is listening.</a:t>
            </a:r>
            <a:endParaRPr lang="en-US" sz="2000" b="1" dirty="0">
              <a:solidFill>
                <a:schemeClr val="tx2">
                  <a:lumMod val="50000"/>
                </a:schemeClr>
              </a:solidFill>
            </a:endParaRPr>
          </a:p>
          <a:p>
            <a:pPr marL="285750" indent="-285750">
              <a:buFont typeface="Arial" panose="020B0604020202020204" pitchFamily="34" charset="0"/>
              <a:buChar char="•"/>
            </a:pPr>
            <a:r>
              <a:rPr lang="en-US" sz="2000" b="1" dirty="0">
                <a:solidFill>
                  <a:schemeClr val="tx2">
                    <a:lumMod val="50000"/>
                  </a:schemeClr>
                </a:solidFill>
              </a:rPr>
              <a:t>On the window side:</a:t>
            </a:r>
          </a:p>
          <a:p>
            <a:pPr marL="742950" lvl="1" indent="-285750">
              <a:buFont typeface="Arial" panose="020B0604020202020204" pitchFamily="34" charset="0"/>
              <a:buChar char="•"/>
            </a:pPr>
            <a:r>
              <a:rPr lang="en-US" sz="2000" b="1" dirty="0">
                <a:solidFill>
                  <a:schemeClr val="tx2">
                    <a:lumMod val="50000"/>
                  </a:schemeClr>
                </a:solidFill>
              </a:rPr>
              <a:t>Python simulation for testing</a:t>
            </a:r>
          </a:p>
          <a:p>
            <a:endParaRPr lang="en-US" sz="2000" b="1" dirty="0">
              <a:solidFill>
                <a:schemeClr val="tx2">
                  <a:lumMod val="50000"/>
                </a:schemeClr>
              </a:solidFill>
            </a:endParaRPr>
          </a:p>
        </p:txBody>
      </p:sp>
    </p:spTree>
    <p:extLst>
      <p:ext uri="{BB962C8B-B14F-4D97-AF65-F5344CB8AC3E}">
        <p14:creationId xmlns:p14="http://schemas.microsoft.com/office/powerpoint/2010/main" val="621270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a:extLst>
            <a:ext uri="{FF2B5EF4-FFF2-40B4-BE49-F238E27FC236}">
              <a16:creationId xmlns:a16="http://schemas.microsoft.com/office/drawing/2014/main" id="{A983C068-4475-F6B2-7948-31AE091C8B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A6196E-0695-49B9-550D-5E801F709499}"/>
              </a:ext>
            </a:extLst>
          </p:cNvPr>
          <p:cNvSpPr>
            <a:spLocks noGrp="1"/>
          </p:cNvSpPr>
          <p:nvPr>
            <p:ph type="ctrTitle"/>
          </p:nvPr>
        </p:nvSpPr>
        <p:spPr>
          <a:xfrm>
            <a:off x="0" y="37190"/>
            <a:ext cx="9144000" cy="1470025"/>
          </a:xfrm>
        </p:spPr>
        <p:txBody>
          <a:bodyPr>
            <a:noAutofit/>
          </a:bodyPr>
          <a:lstStyle/>
          <a:p>
            <a:r>
              <a:rPr lang="en-US" sz="3600" b="1" dirty="0">
                <a:solidFill>
                  <a:schemeClr val="tx2">
                    <a:lumMod val="50000"/>
                  </a:schemeClr>
                </a:solidFill>
              </a:rPr>
              <a:t>Replication Setup &amp; Demo Result </a:t>
            </a:r>
          </a:p>
        </p:txBody>
      </p:sp>
      <p:pic>
        <p:nvPicPr>
          <p:cNvPr id="2055" name="Picture 7" descr="A yellow letter on a blue background&#10;&#10;AI-generated content may be incorrect.">
            <a:extLst>
              <a:ext uri="{FF2B5EF4-FFF2-40B4-BE49-F238E27FC236}">
                <a16:creationId xmlns:a16="http://schemas.microsoft.com/office/drawing/2014/main" id="{86A16861-6582-679C-A45E-BBD13C112E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0347" y="37190"/>
            <a:ext cx="828675" cy="8191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9ADC6BCF-7F6B-B876-8661-78A7832A4305}"/>
              </a:ext>
            </a:extLst>
          </p:cNvPr>
          <p:cNvSpPr>
            <a:spLocks noChangeArrowheads="1"/>
          </p:cNvSpPr>
          <p:nvPr/>
        </p:nvSpPr>
        <p:spPr bwMode="auto">
          <a:xfrm>
            <a:off x="978010" y="-203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1F8CAC60-6869-5260-4169-EEE5C6DA07E1}"/>
              </a:ext>
            </a:extLst>
          </p:cNvPr>
          <p:cNvSpPr txBox="1"/>
          <p:nvPr/>
        </p:nvSpPr>
        <p:spPr>
          <a:xfrm>
            <a:off x="1" y="1377507"/>
            <a:ext cx="9143999" cy="400110"/>
          </a:xfrm>
          <a:prstGeom prst="rect">
            <a:avLst/>
          </a:prstGeom>
          <a:noFill/>
        </p:spPr>
        <p:txBody>
          <a:bodyPr wrap="square">
            <a:spAutoFit/>
          </a:bodyPr>
          <a:lstStyle/>
          <a:p>
            <a:r>
              <a:rPr lang="en-US" sz="2000" b="1" dirty="0">
                <a:solidFill>
                  <a:schemeClr val="tx2">
                    <a:lumMod val="50000"/>
                  </a:schemeClr>
                </a:solidFill>
              </a:rPr>
              <a:t>Creating a simple switch:</a:t>
            </a:r>
          </a:p>
        </p:txBody>
      </p:sp>
      <p:pic>
        <p:nvPicPr>
          <p:cNvPr id="5" name="Picture 4">
            <a:extLst>
              <a:ext uri="{FF2B5EF4-FFF2-40B4-BE49-F238E27FC236}">
                <a16:creationId xmlns:a16="http://schemas.microsoft.com/office/drawing/2014/main" id="{CB39F815-F386-4AA9-3B1F-E7CF1AB29F05}"/>
              </a:ext>
            </a:extLst>
          </p:cNvPr>
          <p:cNvPicPr>
            <a:picLocks noChangeAspect="1"/>
          </p:cNvPicPr>
          <p:nvPr/>
        </p:nvPicPr>
        <p:blipFill>
          <a:blip r:embed="rId3"/>
          <a:stretch>
            <a:fillRect/>
          </a:stretch>
        </p:blipFill>
        <p:spPr>
          <a:xfrm>
            <a:off x="0" y="1787699"/>
            <a:ext cx="9144000" cy="1963897"/>
          </a:xfrm>
          <a:prstGeom prst="rect">
            <a:avLst/>
          </a:prstGeom>
        </p:spPr>
      </p:pic>
      <p:sp>
        <p:nvSpPr>
          <p:cNvPr id="6" name="TextBox 5">
            <a:extLst>
              <a:ext uri="{FF2B5EF4-FFF2-40B4-BE49-F238E27FC236}">
                <a16:creationId xmlns:a16="http://schemas.microsoft.com/office/drawing/2014/main" id="{51D7621F-1AD4-80A4-C5CB-B0AD13B258EA}"/>
              </a:ext>
            </a:extLst>
          </p:cNvPr>
          <p:cNvSpPr txBox="1"/>
          <p:nvPr/>
        </p:nvSpPr>
        <p:spPr>
          <a:xfrm>
            <a:off x="-64977" y="3869161"/>
            <a:ext cx="9143999" cy="2246769"/>
          </a:xfrm>
          <a:prstGeom prst="rect">
            <a:avLst/>
          </a:prstGeom>
          <a:noFill/>
        </p:spPr>
        <p:txBody>
          <a:bodyPr wrap="square">
            <a:spAutoFit/>
          </a:bodyPr>
          <a:lstStyle/>
          <a:p>
            <a:r>
              <a:rPr lang="en-US" sz="2000" b="1" dirty="0">
                <a:solidFill>
                  <a:schemeClr val="tx2">
                    <a:lumMod val="50000"/>
                  </a:schemeClr>
                </a:solidFill>
              </a:rPr>
              <a:t>Then added a forwarding rule on Terminal 2:</a:t>
            </a:r>
          </a:p>
          <a:p>
            <a:endParaRPr lang="en-US" sz="2000" b="1" dirty="0">
              <a:solidFill>
                <a:schemeClr val="tx2">
                  <a:lumMod val="50000"/>
                </a:schemeClr>
              </a:solidFill>
            </a:endParaRPr>
          </a:p>
          <a:p>
            <a:endParaRPr lang="en-US" sz="2000" b="1" dirty="0">
              <a:solidFill>
                <a:schemeClr val="tx2">
                  <a:lumMod val="50000"/>
                </a:schemeClr>
              </a:solidFill>
            </a:endParaRPr>
          </a:p>
          <a:p>
            <a:endParaRPr lang="en-US" sz="2000" b="1" dirty="0">
              <a:solidFill>
                <a:schemeClr val="tx2">
                  <a:lumMod val="50000"/>
                </a:schemeClr>
              </a:solidFill>
            </a:endParaRPr>
          </a:p>
          <a:p>
            <a:endParaRPr lang="en-US" sz="2000" b="1" dirty="0">
              <a:solidFill>
                <a:schemeClr val="tx2">
                  <a:lumMod val="50000"/>
                </a:schemeClr>
              </a:solidFill>
            </a:endParaRPr>
          </a:p>
          <a:p>
            <a:endParaRPr lang="en-US" sz="2000" b="1" dirty="0">
              <a:solidFill>
                <a:schemeClr val="tx2">
                  <a:lumMod val="50000"/>
                </a:schemeClr>
              </a:solidFill>
            </a:endParaRPr>
          </a:p>
          <a:p>
            <a:r>
              <a:rPr lang="en-US" sz="2000" b="1" dirty="0">
                <a:solidFill>
                  <a:schemeClr val="tx2">
                    <a:lumMod val="50000"/>
                  </a:schemeClr>
                </a:solidFill>
              </a:rPr>
              <a:t> </a:t>
            </a:r>
          </a:p>
        </p:txBody>
      </p:sp>
      <p:pic>
        <p:nvPicPr>
          <p:cNvPr id="10" name="Picture 9">
            <a:extLst>
              <a:ext uri="{FF2B5EF4-FFF2-40B4-BE49-F238E27FC236}">
                <a16:creationId xmlns:a16="http://schemas.microsoft.com/office/drawing/2014/main" id="{FA7B4582-706E-06FD-A684-4F2889A9D8B3}"/>
              </a:ext>
            </a:extLst>
          </p:cNvPr>
          <p:cNvPicPr>
            <a:picLocks noChangeAspect="1"/>
          </p:cNvPicPr>
          <p:nvPr/>
        </p:nvPicPr>
        <p:blipFill>
          <a:blip r:embed="rId4"/>
          <a:stretch>
            <a:fillRect/>
          </a:stretch>
        </p:blipFill>
        <p:spPr>
          <a:xfrm>
            <a:off x="1" y="4283964"/>
            <a:ext cx="9144000" cy="2393058"/>
          </a:xfrm>
          <a:prstGeom prst="rect">
            <a:avLst/>
          </a:prstGeom>
        </p:spPr>
      </p:pic>
    </p:spTree>
    <p:extLst>
      <p:ext uri="{BB962C8B-B14F-4D97-AF65-F5344CB8AC3E}">
        <p14:creationId xmlns:p14="http://schemas.microsoft.com/office/powerpoint/2010/main" val="2906159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a:extLst>
            <a:ext uri="{FF2B5EF4-FFF2-40B4-BE49-F238E27FC236}">
              <a16:creationId xmlns:a16="http://schemas.microsoft.com/office/drawing/2014/main" id="{2A7BB578-53CF-D757-0D3E-8F508A19D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9BCB46-4340-CA83-62BE-4415C32BCDCE}"/>
              </a:ext>
            </a:extLst>
          </p:cNvPr>
          <p:cNvSpPr>
            <a:spLocks noGrp="1"/>
          </p:cNvSpPr>
          <p:nvPr>
            <p:ph type="ctrTitle"/>
          </p:nvPr>
        </p:nvSpPr>
        <p:spPr>
          <a:xfrm>
            <a:off x="0" y="37190"/>
            <a:ext cx="9144000" cy="1470025"/>
          </a:xfrm>
        </p:spPr>
        <p:txBody>
          <a:bodyPr>
            <a:noAutofit/>
          </a:bodyPr>
          <a:lstStyle/>
          <a:p>
            <a:r>
              <a:rPr lang="en-US" sz="3600" b="1" dirty="0">
                <a:solidFill>
                  <a:schemeClr val="tx2">
                    <a:lumMod val="50000"/>
                  </a:schemeClr>
                </a:solidFill>
              </a:rPr>
              <a:t>Replication Setup &amp; Demo Result</a:t>
            </a:r>
          </a:p>
        </p:txBody>
      </p:sp>
      <p:pic>
        <p:nvPicPr>
          <p:cNvPr id="2055" name="Picture 7" descr="A yellow letter on a blue background&#10;&#10;AI-generated content may be incorrect.">
            <a:extLst>
              <a:ext uri="{FF2B5EF4-FFF2-40B4-BE49-F238E27FC236}">
                <a16:creationId xmlns:a16="http://schemas.microsoft.com/office/drawing/2014/main" id="{B83F8061-3A7D-C7A5-5630-B9F6416220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0347" y="37190"/>
            <a:ext cx="828675" cy="8191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D8A5B484-6794-8297-4B93-853A3E6FCC41}"/>
              </a:ext>
            </a:extLst>
          </p:cNvPr>
          <p:cNvSpPr>
            <a:spLocks noChangeArrowheads="1"/>
          </p:cNvSpPr>
          <p:nvPr/>
        </p:nvSpPr>
        <p:spPr bwMode="auto">
          <a:xfrm>
            <a:off x="978010" y="-203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E5CCA37B-6137-4200-03A5-FC11FDD5E774}"/>
              </a:ext>
            </a:extLst>
          </p:cNvPr>
          <p:cNvSpPr txBox="1"/>
          <p:nvPr/>
        </p:nvSpPr>
        <p:spPr>
          <a:xfrm>
            <a:off x="0" y="3430680"/>
            <a:ext cx="9143999" cy="3539430"/>
          </a:xfrm>
          <a:prstGeom prst="rect">
            <a:avLst/>
          </a:prstGeom>
          <a:noFill/>
        </p:spPr>
        <p:txBody>
          <a:bodyPr wrap="square">
            <a:spAutoFit/>
          </a:bodyPr>
          <a:lstStyle/>
          <a:p>
            <a:pPr marL="285750" indent="-285750">
              <a:buFont typeface="Arial" panose="020B0604020202020204" pitchFamily="34" charset="0"/>
              <a:buChar char="•"/>
            </a:pPr>
            <a:r>
              <a:rPr lang="en-US" sz="2800" b="1" dirty="0">
                <a:solidFill>
                  <a:schemeClr val="tx2">
                    <a:lumMod val="50000"/>
                  </a:schemeClr>
                </a:solidFill>
              </a:rPr>
              <a:t>After successfully run the </a:t>
            </a:r>
            <a:r>
              <a:rPr lang="en-US" sz="2800" dirty="0"/>
              <a:t>BMv2 , I was able to produce logs and tables after connecting to the CLI:</a:t>
            </a:r>
          </a:p>
          <a:p>
            <a:pPr marL="285750" indent="-285750">
              <a:buFont typeface="Arial" panose="020B0604020202020204" pitchFamily="34" charset="0"/>
              <a:buChar char="•"/>
            </a:pPr>
            <a:endParaRPr lang="en-US" sz="2800" b="1" dirty="0">
              <a:solidFill>
                <a:schemeClr val="tx2">
                  <a:lumMod val="50000"/>
                </a:schemeClr>
              </a:solidFill>
            </a:endParaRPr>
          </a:p>
          <a:p>
            <a:pPr marL="285750" indent="-285750">
              <a:buFont typeface="Arial" panose="020B0604020202020204" pitchFamily="34" charset="0"/>
              <a:buChar char="•"/>
            </a:pPr>
            <a:endParaRPr lang="en-US" sz="2800" b="1" dirty="0">
              <a:solidFill>
                <a:schemeClr val="tx2">
                  <a:lumMod val="50000"/>
                </a:schemeClr>
              </a:solidFill>
            </a:endParaRPr>
          </a:p>
          <a:p>
            <a:pPr marL="285750" indent="-285750">
              <a:buFont typeface="Arial" panose="020B0604020202020204" pitchFamily="34" charset="0"/>
              <a:buChar char="•"/>
            </a:pPr>
            <a:endParaRPr lang="en-US" sz="2800" b="1" dirty="0">
              <a:solidFill>
                <a:schemeClr val="tx2">
                  <a:lumMod val="50000"/>
                </a:schemeClr>
              </a:solidFill>
            </a:endParaRPr>
          </a:p>
          <a:p>
            <a:pPr marL="285750" indent="-285750">
              <a:buFont typeface="Arial" panose="020B0604020202020204" pitchFamily="34" charset="0"/>
              <a:buChar char="•"/>
            </a:pPr>
            <a:r>
              <a:rPr lang="en-US" sz="2800" b="1" dirty="0">
                <a:solidFill>
                  <a:schemeClr val="tx2">
                    <a:lumMod val="50000"/>
                  </a:schemeClr>
                </a:solidFill>
              </a:rPr>
              <a:t>Accuracy: ~95–98%</a:t>
            </a:r>
          </a:p>
          <a:p>
            <a:pPr marL="285750" indent="-285750">
              <a:buFont typeface="Arial" panose="020B0604020202020204" pitchFamily="34" charset="0"/>
              <a:buChar char="•"/>
            </a:pPr>
            <a:r>
              <a:rPr lang="en-US" sz="2800" b="1" dirty="0">
                <a:solidFill>
                  <a:schemeClr val="tx2">
                    <a:lumMod val="50000"/>
                  </a:schemeClr>
                </a:solidFill>
              </a:rPr>
              <a:t>Lower delay than controller-based</a:t>
            </a:r>
          </a:p>
          <a:p>
            <a:pPr marL="285750" indent="-285750">
              <a:buFont typeface="Arial" panose="020B0604020202020204" pitchFamily="34" charset="0"/>
              <a:buChar char="•"/>
            </a:pPr>
            <a:r>
              <a:rPr lang="en-US" sz="2800" b="1" dirty="0">
                <a:solidFill>
                  <a:schemeClr val="tx2">
                    <a:lumMod val="50000"/>
                  </a:schemeClr>
                </a:solidFill>
              </a:rPr>
              <a:t>Real-time detection achieved</a:t>
            </a:r>
          </a:p>
        </p:txBody>
      </p:sp>
      <p:pic>
        <p:nvPicPr>
          <p:cNvPr id="5" name="Picture 4">
            <a:extLst>
              <a:ext uri="{FF2B5EF4-FFF2-40B4-BE49-F238E27FC236}">
                <a16:creationId xmlns:a16="http://schemas.microsoft.com/office/drawing/2014/main" id="{B61DE7CB-DDA3-F131-8CD1-48AEA88DB8F0}"/>
              </a:ext>
            </a:extLst>
          </p:cNvPr>
          <p:cNvPicPr>
            <a:picLocks noChangeAspect="1"/>
          </p:cNvPicPr>
          <p:nvPr/>
        </p:nvPicPr>
        <p:blipFill>
          <a:blip r:embed="rId3"/>
          <a:stretch>
            <a:fillRect/>
          </a:stretch>
        </p:blipFill>
        <p:spPr>
          <a:xfrm>
            <a:off x="372232" y="4270849"/>
            <a:ext cx="6222775" cy="1150465"/>
          </a:xfrm>
          <a:prstGeom prst="rect">
            <a:avLst/>
          </a:prstGeom>
        </p:spPr>
      </p:pic>
      <p:pic>
        <p:nvPicPr>
          <p:cNvPr id="10" name="Picture 9">
            <a:extLst>
              <a:ext uri="{FF2B5EF4-FFF2-40B4-BE49-F238E27FC236}">
                <a16:creationId xmlns:a16="http://schemas.microsoft.com/office/drawing/2014/main" id="{E85B1E00-AF75-5741-C3CB-A9F5815DF79B}"/>
              </a:ext>
            </a:extLst>
          </p:cNvPr>
          <p:cNvPicPr>
            <a:picLocks noChangeAspect="1"/>
          </p:cNvPicPr>
          <p:nvPr/>
        </p:nvPicPr>
        <p:blipFill>
          <a:blip r:embed="rId4"/>
          <a:stretch>
            <a:fillRect/>
          </a:stretch>
        </p:blipFill>
        <p:spPr>
          <a:xfrm>
            <a:off x="64978" y="1436686"/>
            <a:ext cx="9144000" cy="2097278"/>
          </a:xfrm>
          <a:prstGeom prst="rect">
            <a:avLst/>
          </a:prstGeom>
        </p:spPr>
      </p:pic>
      <p:sp>
        <p:nvSpPr>
          <p:cNvPr id="11" name="Rectangle 10">
            <a:extLst>
              <a:ext uri="{FF2B5EF4-FFF2-40B4-BE49-F238E27FC236}">
                <a16:creationId xmlns:a16="http://schemas.microsoft.com/office/drawing/2014/main" id="{EF81DA4E-3862-DFE3-C550-0DA946544BB9}"/>
              </a:ext>
            </a:extLst>
          </p:cNvPr>
          <p:cNvSpPr/>
          <p:nvPr/>
        </p:nvSpPr>
        <p:spPr>
          <a:xfrm>
            <a:off x="64978" y="2524715"/>
            <a:ext cx="5413330" cy="1009249"/>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D693F0D-A16A-BB12-46F6-8E98FFBD4271}"/>
              </a:ext>
            </a:extLst>
          </p:cNvPr>
          <p:cNvSpPr txBox="1"/>
          <p:nvPr/>
        </p:nvSpPr>
        <p:spPr>
          <a:xfrm>
            <a:off x="6271969" y="2494733"/>
            <a:ext cx="2807053" cy="861774"/>
          </a:xfrm>
          <a:prstGeom prst="rect">
            <a:avLst/>
          </a:prstGeom>
          <a:noFill/>
          <a:ln>
            <a:solidFill>
              <a:srgbClr val="FFFF00"/>
            </a:solidFill>
          </a:ln>
        </p:spPr>
        <p:txBody>
          <a:bodyPr wrap="square" rtlCol="0">
            <a:spAutoFit/>
          </a:bodyPr>
          <a:lstStyle/>
          <a:p>
            <a:r>
              <a:rPr lang="en-US" sz="1000" dirty="0">
                <a:solidFill>
                  <a:schemeClr val="bg2"/>
                </a:solidFill>
              </a:rPr>
              <a:t>forwarding rule result</a:t>
            </a:r>
          </a:p>
          <a:p>
            <a:r>
              <a:rPr lang="en-US" sz="1000" dirty="0">
                <a:solidFill>
                  <a:schemeClr val="bg2"/>
                </a:solidFill>
              </a:rPr>
              <a:t>MAC =00:00:00:00:00:02, Port = 1</a:t>
            </a:r>
          </a:p>
          <a:p>
            <a:r>
              <a:rPr lang="en-US" sz="1000" dirty="0">
                <a:solidFill>
                  <a:schemeClr val="bg2"/>
                </a:solidFill>
              </a:rPr>
              <a:t>Meaning</a:t>
            </a:r>
          </a:p>
          <a:p>
            <a:r>
              <a:rPr lang="en-US" sz="1000" dirty="0">
                <a:solidFill>
                  <a:schemeClr val="bg2"/>
                </a:solidFill>
              </a:rPr>
              <a:t>*	Rule installed successfully</a:t>
            </a:r>
          </a:p>
          <a:p>
            <a:r>
              <a:rPr lang="en-US" sz="1000" dirty="0">
                <a:solidFill>
                  <a:schemeClr val="bg2"/>
                </a:solidFill>
              </a:rPr>
              <a:t>*	Switch now knows how to forward traffic</a:t>
            </a:r>
          </a:p>
        </p:txBody>
      </p:sp>
      <p:cxnSp>
        <p:nvCxnSpPr>
          <p:cNvPr id="14" name="Straight Arrow Connector 13">
            <a:extLst>
              <a:ext uri="{FF2B5EF4-FFF2-40B4-BE49-F238E27FC236}">
                <a16:creationId xmlns:a16="http://schemas.microsoft.com/office/drawing/2014/main" id="{24A9D47D-92BD-65D2-486F-987C223379B7}"/>
              </a:ext>
            </a:extLst>
          </p:cNvPr>
          <p:cNvCxnSpPr>
            <a:cxnSpLocks/>
            <a:stCxn id="12" idx="1"/>
          </p:cNvCxnSpPr>
          <p:nvPr/>
        </p:nvCxnSpPr>
        <p:spPr>
          <a:xfrm flipH="1">
            <a:off x="2953593" y="2925620"/>
            <a:ext cx="3318376" cy="4161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3A648EC8-D961-0DA4-4738-1EDF42460647}"/>
              </a:ext>
            </a:extLst>
          </p:cNvPr>
          <p:cNvSpPr txBox="1"/>
          <p:nvPr/>
        </p:nvSpPr>
        <p:spPr>
          <a:xfrm>
            <a:off x="5017804" y="4673621"/>
            <a:ext cx="1450555" cy="246221"/>
          </a:xfrm>
          <a:prstGeom prst="rect">
            <a:avLst/>
          </a:prstGeom>
          <a:noFill/>
          <a:ln w="28575">
            <a:solidFill>
              <a:srgbClr val="FFFF00"/>
            </a:solidFill>
          </a:ln>
        </p:spPr>
        <p:txBody>
          <a:bodyPr wrap="square" rtlCol="0">
            <a:spAutoFit/>
          </a:bodyPr>
          <a:lstStyle/>
          <a:p>
            <a:r>
              <a:rPr lang="en-US" sz="1000" b="1" dirty="0">
                <a:solidFill>
                  <a:schemeClr val="bg2"/>
                </a:solidFill>
              </a:rPr>
              <a:t>Terminal 2 </a:t>
            </a:r>
            <a:r>
              <a:rPr lang="en-US" sz="1000" b="1" dirty="0" err="1">
                <a:solidFill>
                  <a:schemeClr val="bg2"/>
                </a:solidFill>
              </a:rPr>
              <a:t>Comand</a:t>
            </a:r>
            <a:endParaRPr lang="en-US" sz="1000" b="1" dirty="0">
              <a:solidFill>
                <a:schemeClr val="bg2"/>
              </a:solidFill>
            </a:endParaRPr>
          </a:p>
        </p:txBody>
      </p:sp>
      <p:sp>
        <p:nvSpPr>
          <p:cNvPr id="27" name="TextBox 26">
            <a:extLst>
              <a:ext uri="{FF2B5EF4-FFF2-40B4-BE49-F238E27FC236}">
                <a16:creationId xmlns:a16="http://schemas.microsoft.com/office/drawing/2014/main" id="{7AE272B3-B1A4-D81D-AB92-00D2028EE488}"/>
              </a:ext>
            </a:extLst>
          </p:cNvPr>
          <p:cNvSpPr txBox="1"/>
          <p:nvPr/>
        </p:nvSpPr>
        <p:spPr>
          <a:xfrm>
            <a:off x="7454976" y="2009615"/>
            <a:ext cx="1255489" cy="246221"/>
          </a:xfrm>
          <a:prstGeom prst="rect">
            <a:avLst/>
          </a:prstGeom>
          <a:noFill/>
          <a:ln w="28575">
            <a:solidFill>
              <a:srgbClr val="FFFF00"/>
            </a:solidFill>
          </a:ln>
        </p:spPr>
        <p:txBody>
          <a:bodyPr wrap="square" rtlCol="0">
            <a:spAutoFit/>
          </a:bodyPr>
          <a:lstStyle/>
          <a:p>
            <a:r>
              <a:rPr lang="en-US" sz="1000" b="1" dirty="0">
                <a:solidFill>
                  <a:schemeClr val="bg2"/>
                </a:solidFill>
              </a:rPr>
              <a:t>Terminal 1 result</a:t>
            </a:r>
          </a:p>
        </p:txBody>
      </p:sp>
      <p:cxnSp>
        <p:nvCxnSpPr>
          <p:cNvPr id="29" name="Straight Arrow Connector 28">
            <a:extLst>
              <a:ext uri="{FF2B5EF4-FFF2-40B4-BE49-F238E27FC236}">
                <a16:creationId xmlns:a16="http://schemas.microsoft.com/office/drawing/2014/main" id="{ECE49081-512A-2C76-67E8-456867FCB3DA}"/>
              </a:ext>
            </a:extLst>
          </p:cNvPr>
          <p:cNvCxnSpPr>
            <a:cxnSpLocks/>
            <a:stCxn id="27" idx="1"/>
          </p:cNvCxnSpPr>
          <p:nvPr/>
        </p:nvCxnSpPr>
        <p:spPr>
          <a:xfrm flipH="1">
            <a:off x="5481742" y="2132726"/>
            <a:ext cx="1973234" cy="5092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0526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a:extLst>
            <a:ext uri="{FF2B5EF4-FFF2-40B4-BE49-F238E27FC236}">
              <a16:creationId xmlns:a16="http://schemas.microsoft.com/office/drawing/2014/main" id="{9C99EA70-0AF3-98C9-1F50-A0F6423778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EF81E-44F5-9618-B062-C53C8671412E}"/>
              </a:ext>
            </a:extLst>
          </p:cNvPr>
          <p:cNvSpPr>
            <a:spLocks noGrp="1"/>
          </p:cNvSpPr>
          <p:nvPr>
            <p:ph type="ctrTitle"/>
          </p:nvPr>
        </p:nvSpPr>
        <p:spPr>
          <a:xfrm>
            <a:off x="0" y="37190"/>
            <a:ext cx="9144000" cy="1470025"/>
          </a:xfrm>
        </p:spPr>
        <p:txBody>
          <a:bodyPr>
            <a:noAutofit/>
          </a:bodyPr>
          <a:lstStyle/>
          <a:p>
            <a:r>
              <a:rPr lang="en-US" sz="3600" b="1" dirty="0">
                <a:solidFill>
                  <a:schemeClr val="tx2">
                    <a:lumMod val="50000"/>
                  </a:schemeClr>
                </a:solidFill>
              </a:rPr>
              <a:t>Replication Setup &amp; Demo Result</a:t>
            </a:r>
          </a:p>
        </p:txBody>
      </p:sp>
      <p:pic>
        <p:nvPicPr>
          <p:cNvPr id="2055" name="Picture 7" descr="A yellow letter on a blue background&#10;&#10;AI-generated content may be incorrect.">
            <a:extLst>
              <a:ext uri="{FF2B5EF4-FFF2-40B4-BE49-F238E27FC236}">
                <a16:creationId xmlns:a16="http://schemas.microsoft.com/office/drawing/2014/main" id="{CC0A5E6B-A93A-EE3C-0515-9E1A7C35C9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0347" y="37190"/>
            <a:ext cx="828675" cy="8191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C07CCD8-18F7-1990-647F-B7E2E2FEF974}"/>
              </a:ext>
            </a:extLst>
          </p:cNvPr>
          <p:cNvSpPr>
            <a:spLocks noChangeArrowheads="1"/>
          </p:cNvSpPr>
          <p:nvPr/>
        </p:nvSpPr>
        <p:spPr bwMode="auto">
          <a:xfrm>
            <a:off x="978010" y="-203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BB108E54-AF2C-88EE-625E-AD82577E8AA7}"/>
              </a:ext>
            </a:extLst>
          </p:cNvPr>
          <p:cNvSpPr txBox="1"/>
          <p:nvPr/>
        </p:nvSpPr>
        <p:spPr>
          <a:xfrm>
            <a:off x="0" y="1628179"/>
            <a:ext cx="9143999" cy="1661993"/>
          </a:xfrm>
          <a:prstGeom prst="rect">
            <a:avLst/>
          </a:prstGeom>
          <a:noFill/>
          <a:effectLst>
            <a:outerShdw blurRad="63500" sx="102000" sy="102000" algn="ctr" rotWithShape="0">
              <a:prstClr val="black">
                <a:alpha val="40000"/>
              </a:prstClr>
            </a:outerShdw>
          </a:effectLst>
        </p:spPr>
        <p:txBody>
          <a:bodyPr wrap="square">
            <a:spAutoFit/>
          </a:bodyPr>
          <a:lstStyle/>
          <a:p>
            <a:r>
              <a:rPr lang="en-US" sz="2800" b="1" dirty="0"/>
              <a:t>Add a security rule (drop suspicious)</a:t>
            </a:r>
          </a:p>
          <a:p>
            <a:pPr marL="285750" indent="-285750">
              <a:buFont typeface="Arial" panose="020B0604020202020204" pitchFamily="34" charset="0"/>
              <a:buChar char="•"/>
            </a:pPr>
            <a:r>
              <a:rPr lang="en-US" dirty="0"/>
              <a:t>Bif meta.suspicious = 1, then I must drop the packet</a:t>
            </a:r>
          </a:p>
          <a:p>
            <a:pPr marL="285750" indent="-285750">
              <a:buFont typeface="Arial" panose="020B0604020202020204" pitchFamily="34" charset="0"/>
              <a:buChar char="•"/>
            </a:pPr>
            <a:br>
              <a:rPr lang="en-US" sz="2800" dirty="0"/>
            </a:br>
            <a:endParaRPr lang="en-US" sz="2800" b="1" dirty="0">
              <a:solidFill>
                <a:schemeClr val="tx2">
                  <a:lumMod val="50000"/>
                </a:schemeClr>
              </a:solidFill>
            </a:endParaRPr>
          </a:p>
        </p:txBody>
      </p:sp>
      <p:pic>
        <p:nvPicPr>
          <p:cNvPr id="5" name="Picture 4">
            <a:extLst>
              <a:ext uri="{FF2B5EF4-FFF2-40B4-BE49-F238E27FC236}">
                <a16:creationId xmlns:a16="http://schemas.microsoft.com/office/drawing/2014/main" id="{300C89C4-5701-A179-EC12-489C9CD6AB1A}"/>
              </a:ext>
            </a:extLst>
          </p:cNvPr>
          <p:cNvPicPr>
            <a:picLocks noChangeAspect="1"/>
          </p:cNvPicPr>
          <p:nvPr/>
        </p:nvPicPr>
        <p:blipFill>
          <a:blip r:embed="rId4"/>
          <a:stretch>
            <a:fillRect/>
          </a:stretch>
        </p:blipFill>
        <p:spPr>
          <a:xfrm>
            <a:off x="-1" y="2382363"/>
            <a:ext cx="9144000" cy="2957798"/>
          </a:xfrm>
          <a:prstGeom prst="rect">
            <a:avLst/>
          </a:prstGeom>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4FD3F2B9-F4B4-DA31-AC7C-9638DBAD5347}"/>
              </a:ext>
            </a:extLst>
          </p:cNvPr>
          <p:cNvPicPr>
            <a:picLocks noChangeAspect="1"/>
          </p:cNvPicPr>
          <p:nvPr/>
        </p:nvPicPr>
        <p:blipFill>
          <a:blip r:embed="rId5"/>
          <a:stretch>
            <a:fillRect/>
          </a:stretch>
        </p:blipFill>
        <p:spPr>
          <a:xfrm>
            <a:off x="0" y="5538889"/>
            <a:ext cx="9144000" cy="1281921"/>
          </a:xfrm>
          <a:prstGeom prst="rect">
            <a:avLst/>
          </a:prstGeom>
          <a:effectLst>
            <a:outerShdw blurRad="63500" sx="102000" sy="102000" algn="ctr" rotWithShape="0">
              <a:prstClr val="black">
                <a:alpha val="40000"/>
              </a:prstClr>
            </a:outerShdw>
          </a:effectLst>
        </p:spPr>
      </p:pic>
      <p:sp>
        <p:nvSpPr>
          <p:cNvPr id="8" name="TextBox 7">
            <a:extLst>
              <a:ext uri="{FF2B5EF4-FFF2-40B4-BE49-F238E27FC236}">
                <a16:creationId xmlns:a16="http://schemas.microsoft.com/office/drawing/2014/main" id="{DE18EF76-BCA3-FC15-324F-E221182F0CED}"/>
              </a:ext>
            </a:extLst>
          </p:cNvPr>
          <p:cNvSpPr txBox="1"/>
          <p:nvPr/>
        </p:nvSpPr>
        <p:spPr>
          <a:xfrm>
            <a:off x="4931549" y="4162563"/>
            <a:ext cx="1450555" cy="246221"/>
          </a:xfrm>
          <a:prstGeom prst="rect">
            <a:avLst/>
          </a:prstGeom>
          <a:noFill/>
          <a:ln w="28575">
            <a:solidFill>
              <a:srgbClr val="FFFF00"/>
            </a:solidFill>
          </a:ln>
          <a:effectLst>
            <a:outerShdw blurRad="63500" sx="102000" sy="102000" algn="ctr" rotWithShape="0">
              <a:prstClr val="black">
                <a:alpha val="40000"/>
              </a:prstClr>
            </a:outerShdw>
          </a:effectLst>
        </p:spPr>
        <p:txBody>
          <a:bodyPr wrap="square" rtlCol="0">
            <a:spAutoFit/>
          </a:bodyPr>
          <a:lstStyle/>
          <a:p>
            <a:r>
              <a:rPr lang="en-US" sz="1000" b="1" dirty="0">
                <a:solidFill>
                  <a:schemeClr val="bg2"/>
                </a:solidFill>
              </a:rPr>
              <a:t>Terminal 2</a:t>
            </a:r>
          </a:p>
        </p:txBody>
      </p:sp>
      <p:sp>
        <p:nvSpPr>
          <p:cNvPr id="10" name="TextBox 9">
            <a:extLst>
              <a:ext uri="{FF2B5EF4-FFF2-40B4-BE49-F238E27FC236}">
                <a16:creationId xmlns:a16="http://schemas.microsoft.com/office/drawing/2014/main" id="{427EB943-3BBB-B75A-0E42-FBCFCFB84197}"/>
              </a:ext>
            </a:extLst>
          </p:cNvPr>
          <p:cNvSpPr txBox="1"/>
          <p:nvPr/>
        </p:nvSpPr>
        <p:spPr>
          <a:xfrm>
            <a:off x="6310565" y="5900572"/>
            <a:ext cx="1255489" cy="246221"/>
          </a:xfrm>
          <a:prstGeom prst="rect">
            <a:avLst/>
          </a:prstGeom>
          <a:noFill/>
          <a:ln w="28575">
            <a:solidFill>
              <a:srgbClr val="FFFF00"/>
            </a:solidFill>
          </a:ln>
          <a:effectLst>
            <a:outerShdw blurRad="63500" sx="102000" sy="102000" algn="ctr" rotWithShape="0">
              <a:prstClr val="black">
                <a:alpha val="40000"/>
              </a:prstClr>
            </a:outerShdw>
          </a:effectLst>
        </p:spPr>
        <p:txBody>
          <a:bodyPr wrap="square" rtlCol="0">
            <a:spAutoFit/>
          </a:bodyPr>
          <a:lstStyle/>
          <a:p>
            <a:r>
              <a:rPr lang="en-US" sz="1000" b="1" dirty="0">
                <a:solidFill>
                  <a:schemeClr val="bg2"/>
                </a:solidFill>
              </a:rPr>
              <a:t>Terminal 1 result</a:t>
            </a:r>
          </a:p>
        </p:txBody>
      </p:sp>
      <p:sp>
        <p:nvSpPr>
          <p:cNvPr id="11" name="Rectangle 10">
            <a:extLst>
              <a:ext uri="{FF2B5EF4-FFF2-40B4-BE49-F238E27FC236}">
                <a16:creationId xmlns:a16="http://schemas.microsoft.com/office/drawing/2014/main" id="{A57DAE61-168C-1F7A-8196-F53131123631}"/>
              </a:ext>
            </a:extLst>
          </p:cNvPr>
          <p:cNvSpPr/>
          <p:nvPr/>
        </p:nvSpPr>
        <p:spPr>
          <a:xfrm>
            <a:off x="0" y="4330913"/>
            <a:ext cx="3923607" cy="831292"/>
          </a:xfrm>
          <a:prstGeom prst="rect">
            <a:avLst/>
          </a:prstGeom>
          <a:solidFill>
            <a:srgbClr val="FFFF00">
              <a:alpha val="50000"/>
            </a:srgbClr>
          </a:solidFill>
          <a:ln>
            <a:noFill/>
          </a:ln>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cxnSp>
        <p:nvCxnSpPr>
          <p:cNvPr id="13" name="Straight Arrow Connector 12">
            <a:extLst>
              <a:ext uri="{FF2B5EF4-FFF2-40B4-BE49-F238E27FC236}">
                <a16:creationId xmlns:a16="http://schemas.microsoft.com/office/drawing/2014/main" id="{374E154A-2891-B04F-FC9D-D2A839BA565E}"/>
              </a:ext>
            </a:extLst>
          </p:cNvPr>
          <p:cNvCxnSpPr/>
          <p:nvPr/>
        </p:nvCxnSpPr>
        <p:spPr>
          <a:xfrm flipH="1">
            <a:off x="3923607" y="4330913"/>
            <a:ext cx="1007942" cy="273455"/>
          </a:xfrm>
          <a:prstGeom prst="straightConnector1">
            <a:avLst/>
          </a:prstGeom>
          <a:ln>
            <a:tailEnd type="triangle"/>
          </a:ln>
          <a:effectLst>
            <a:outerShdw blurRad="63500" sx="102000" sy="102000" algn="ctr"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440D9A31-012B-3304-170F-5D3468D18C68}"/>
              </a:ext>
            </a:extLst>
          </p:cNvPr>
          <p:cNvCxnSpPr>
            <a:cxnSpLocks/>
            <a:stCxn id="10" idx="1"/>
          </p:cNvCxnSpPr>
          <p:nvPr/>
        </p:nvCxnSpPr>
        <p:spPr>
          <a:xfrm flipH="1">
            <a:off x="6052842" y="6023683"/>
            <a:ext cx="257723" cy="70662"/>
          </a:xfrm>
          <a:prstGeom prst="straightConnector1">
            <a:avLst/>
          </a:prstGeom>
          <a:ln>
            <a:tailEnd type="triangle"/>
          </a:ln>
          <a:effectLst>
            <a:outerShdw blurRad="63500" sx="102000" sy="102000" algn="ctr"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0115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a:extLst>
            <a:ext uri="{FF2B5EF4-FFF2-40B4-BE49-F238E27FC236}">
              <a16:creationId xmlns:a16="http://schemas.microsoft.com/office/drawing/2014/main" id="{DE07A022-B4B7-5203-EF51-B72E45B1E114}"/>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93767FF4-8CEE-A52D-362C-308A99EDA79F}"/>
              </a:ext>
            </a:extLst>
          </p:cNvPr>
          <p:cNvPicPr>
            <a:picLocks noChangeAspect="1"/>
          </p:cNvPicPr>
          <p:nvPr/>
        </p:nvPicPr>
        <p:blipFill>
          <a:blip r:embed="rId2"/>
          <a:stretch>
            <a:fillRect/>
          </a:stretch>
        </p:blipFill>
        <p:spPr>
          <a:xfrm>
            <a:off x="0" y="3664994"/>
            <a:ext cx="9144000" cy="1072055"/>
          </a:xfrm>
          <a:prstGeom prst="rect">
            <a:avLst/>
          </a:prstGeom>
          <a:effectLst>
            <a:outerShdw blurRad="63500" sx="102000" sy="102000" algn="ctr" rotWithShape="0">
              <a:prstClr val="black">
                <a:alpha val="40000"/>
              </a:prstClr>
            </a:outerShdw>
          </a:effectLst>
        </p:spPr>
      </p:pic>
      <p:pic>
        <p:nvPicPr>
          <p:cNvPr id="6" name="Picture 5">
            <a:extLst>
              <a:ext uri="{FF2B5EF4-FFF2-40B4-BE49-F238E27FC236}">
                <a16:creationId xmlns:a16="http://schemas.microsoft.com/office/drawing/2014/main" id="{7BCE771B-C0AF-75B8-5964-67F4EB1E2F99}"/>
              </a:ext>
            </a:extLst>
          </p:cNvPr>
          <p:cNvPicPr>
            <a:picLocks noChangeAspect="1"/>
          </p:cNvPicPr>
          <p:nvPr/>
        </p:nvPicPr>
        <p:blipFill>
          <a:blip r:embed="rId3"/>
          <a:stretch>
            <a:fillRect/>
          </a:stretch>
        </p:blipFill>
        <p:spPr>
          <a:xfrm>
            <a:off x="0" y="2318323"/>
            <a:ext cx="9144000" cy="936548"/>
          </a:xfrm>
          <a:prstGeom prst="rect">
            <a:avLst/>
          </a:prstGeom>
          <a:effectLst>
            <a:outerShdw blurRad="63500" sx="102000" sy="102000" algn="ctr" rotWithShape="0">
              <a:prstClr val="black">
                <a:alpha val="40000"/>
              </a:prstClr>
            </a:outerShdw>
          </a:effectLst>
        </p:spPr>
      </p:pic>
      <p:sp>
        <p:nvSpPr>
          <p:cNvPr id="2" name="Title 1">
            <a:extLst>
              <a:ext uri="{FF2B5EF4-FFF2-40B4-BE49-F238E27FC236}">
                <a16:creationId xmlns:a16="http://schemas.microsoft.com/office/drawing/2014/main" id="{6E0D0108-E8BD-0467-B50C-E57277FCB373}"/>
              </a:ext>
            </a:extLst>
          </p:cNvPr>
          <p:cNvSpPr>
            <a:spLocks noGrp="1"/>
          </p:cNvSpPr>
          <p:nvPr>
            <p:ph type="ctrTitle"/>
          </p:nvPr>
        </p:nvSpPr>
        <p:spPr>
          <a:xfrm>
            <a:off x="0" y="37190"/>
            <a:ext cx="9144000" cy="1470025"/>
          </a:xfrm>
        </p:spPr>
        <p:txBody>
          <a:bodyPr>
            <a:noAutofit/>
          </a:bodyPr>
          <a:lstStyle/>
          <a:p>
            <a:r>
              <a:rPr lang="en-US" sz="3600" b="1" dirty="0">
                <a:solidFill>
                  <a:schemeClr val="tx2">
                    <a:lumMod val="50000"/>
                  </a:schemeClr>
                </a:solidFill>
              </a:rPr>
              <a:t>Replication Setup &amp; Demo Result</a:t>
            </a:r>
          </a:p>
        </p:txBody>
      </p:sp>
      <p:pic>
        <p:nvPicPr>
          <p:cNvPr id="2055" name="Picture 7" descr="A yellow letter on a blue background&#10;&#10;AI-generated content may be incorrect.">
            <a:extLst>
              <a:ext uri="{FF2B5EF4-FFF2-40B4-BE49-F238E27FC236}">
                <a16:creationId xmlns:a16="http://schemas.microsoft.com/office/drawing/2014/main" id="{7C6A28A9-58CB-F5F6-B0DB-9280A64417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50347" y="37190"/>
            <a:ext cx="828675" cy="8191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2DC1B612-ACB4-C06E-8380-077FDAEC760F}"/>
              </a:ext>
            </a:extLst>
          </p:cNvPr>
          <p:cNvSpPr>
            <a:spLocks noChangeArrowheads="1"/>
          </p:cNvSpPr>
          <p:nvPr/>
        </p:nvSpPr>
        <p:spPr bwMode="auto">
          <a:xfrm>
            <a:off x="978010" y="-203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50C3F3D1-1826-02A1-6E9A-E1DFDEDFD237}"/>
              </a:ext>
            </a:extLst>
          </p:cNvPr>
          <p:cNvSpPr txBox="1"/>
          <p:nvPr/>
        </p:nvSpPr>
        <p:spPr>
          <a:xfrm>
            <a:off x="0" y="1292723"/>
            <a:ext cx="9143999" cy="1231106"/>
          </a:xfrm>
          <a:prstGeom prst="rect">
            <a:avLst/>
          </a:prstGeom>
          <a:noFill/>
          <a:effectLst>
            <a:outerShdw blurRad="63500" sx="102000" sy="102000" algn="ctr" rotWithShape="0">
              <a:prstClr val="black">
                <a:alpha val="40000"/>
              </a:prstClr>
            </a:outerShdw>
          </a:effectLst>
        </p:spPr>
        <p:txBody>
          <a:bodyPr wrap="square">
            <a:spAutoFit/>
          </a:bodyPr>
          <a:lstStyle/>
          <a:p>
            <a:r>
              <a:rPr lang="en-US" sz="2800" b="1" dirty="0"/>
              <a:t>Add rule for normal traffic</a:t>
            </a:r>
          </a:p>
          <a:p>
            <a:r>
              <a:rPr lang="en-US" dirty="0"/>
              <a:t>table_add MyIngress.suspicious_policy NoAction 0 =&gt;</a:t>
            </a:r>
            <a:br>
              <a:rPr lang="en-US" sz="2800" dirty="0"/>
            </a:br>
            <a:endParaRPr lang="en-US" sz="2800" b="1" dirty="0">
              <a:solidFill>
                <a:schemeClr val="tx2">
                  <a:lumMod val="50000"/>
                </a:schemeClr>
              </a:solidFill>
            </a:endParaRPr>
          </a:p>
        </p:txBody>
      </p:sp>
      <p:sp>
        <p:nvSpPr>
          <p:cNvPr id="8" name="TextBox 7">
            <a:extLst>
              <a:ext uri="{FF2B5EF4-FFF2-40B4-BE49-F238E27FC236}">
                <a16:creationId xmlns:a16="http://schemas.microsoft.com/office/drawing/2014/main" id="{339D5DE2-8C52-010F-D438-6908C6408470}"/>
              </a:ext>
            </a:extLst>
          </p:cNvPr>
          <p:cNvSpPr txBox="1"/>
          <p:nvPr/>
        </p:nvSpPr>
        <p:spPr>
          <a:xfrm>
            <a:off x="4931549" y="2395439"/>
            <a:ext cx="2286547" cy="400110"/>
          </a:xfrm>
          <a:prstGeom prst="rect">
            <a:avLst/>
          </a:prstGeom>
          <a:noFill/>
          <a:ln>
            <a:solidFill>
              <a:srgbClr val="FFFF00"/>
            </a:solidFill>
          </a:ln>
          <a:effectLst>
            <a:outerShdw blurRad="63500" sx="102000" sy="102000" algn="ctr" rotWithShape="0">
              <a:prstClr val="black">
                <a:alpha val="40000"/>
              </a:prstClr>
            </a:outerShdw>
          </a:effectLst>
        </p:spPr>
        <p:txBody>
          <a:bodyPr wrap="square" rtlCol="0">
            <a:spAutoFit/>
          </a:bodyPr>
          <a:lstStyle/>
          <a:p>
            <a:r>
              <a:rPr lang="en-US" sz="1000" b="1" dirty="0">
                <a:solidFill>
                  <a:schemeClr val="bg2"/>
                </a:solidFill>
              </a:rPr>
              <a:t>Terminal 2: Meaning</a:t>
            </a:r>
          </a:p>
          <a:p>
            <a:r>
              <a:rPr lang="en-US" sz="1000" b="1" dirty="0">
                <a:solidFill>
                  <a:schemeClr val="bg2"/>
                </a:solidFill>
              </a:rPr>
              <a:t>Normal traffic is allowed to pass</a:t>
            </a:r>
          </a:p>
        </p:txBody>
      </p:sp>
      <p:sp>
        <p:nvSpPr>
          <p:cNvPr id="10" name="TextBox 9">
            <a:extLst>
              <a:ext uri="{FF2B5EF4-FFF2-40B4-BE49-F238E27FC236}">
                <a16:creationId xmlns:a16="http://schemas.microsoft.com/office/drawing/2014/main" id="{0CAA4237-9E9A-2E85-A3D6-4171EAB79103}"/>
              </a:ext>
            </a:extLst>
          </p:cNvPr>
          <p:cNvSpPr txBox="1"/>
          <p:nvPr/>
        </p:nvSpPr>
        <p:spPr>
          <a:xfrm>
            <a:off x="3724612" y="4278482"/>
            <a:ext cx="1255489" cy="246221"/>
          </a:xfrm>
          <a:prstGeom prst="rect">
            <a:avLst/>
          </a:prstGeom>
          <a:noFill/>
          <a:ln>
            <a:solidFill>
              <a:srgbClr val="FFFF00"/>
            </a:solidFill>
          </a:ln>
          <a:effectLst>
            <a:outerShdw blurRad="63500" sx="102000" sy="102000" algn="ctr" rotWithShape="0">
              <a:prstClr val="black">
                <a:alpha val="40000"/>
              </a:prstClr>
            </a:outerShdw>
          </a:effectLst>
        </p:spPr>
        <p:txBody>
          <a:bodyPr wrap="square" rtlCol="0">
            <a:spAutoFit/>
          </a:bodyPr>
          <a:lstStyle/>
          <a:p>
            <a:r>
              <a:rPr lang="en-US" sz="1000" b="1" dirty="0">
                <a:solidFill>
                  <a:schemeClr val="bg2"/>
                </a:solidFill>
              </a:rPr>
              <a:t>Terminal 1 result</a:t>
            </a:r>
          </a:p>
        </p:txBody>
      </p:sp>
      <p:sp>
        <p:nvSpPr>
          <p:cNvPr id="11" name="Rectangle 10">
            <a:extLst>
              <a:ext uri="{FF2B5EF4-FFF2-40B4-BE49-F238E27FC236}">
                <a16:creationId xmlns:a16="http://schemas.microsoft.com/office/drawing/2014/main" id="{FBE09D4B-FA2D-E1F7-E4FD-F24A0B0FB4EF}"/>
              </a:ext>
            </a:extLst>
          </p:cNvPr>
          <p:cNvSpPr/>
          <p:nvPr/>
        </p:nvSpPr>
        <p:spPr>
          <a:xfrm>
            <a:off x="0" y="2339901"/>
            <a:ext cx="4029834" cy="914969"/>
          </a:xfrm>
          <a:prstGeom prst="rect">
            <a:avLst/>
          </a:prstGeom>
          <a:solidFill>
            <a:srgbClr val="FFFF00">
              <a:alpha val="50000"/>
            </a:srgbClr>
          </a:solidFill>
          <a:ln>
            <a:noFill/>
          </a:ln>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cxnSp>
        <p:nvCxnSpPr>
          <p:cNvPr id="13" name="Straight Arrow Connector 12">
            <a:extLst>
              <a:ext uri="{FF2B5EF4-FFF2-40B4-BE49-F238E27FC236}">
                <a16:creationId xmlns:a16="http://schemas.microsoft.com/office/drawing/2014/main" id="{A47E6350-9AAE-6B1A-113C-9CE6DE50EF57}"/>
              </a:ext>
            </a:extLst>
          </p:cNvPr>
          <p:cNvCxnSpPr/>
          <p:nvPr/>
        </p:nvCxnSpPr>
        <p:spPr>
          <a:xfrm flipH="1">
            <a:off x="3923607" y="2385142"/>
            <a:ext cx="1007942" cy="273455"/>
          </a:xfrm>
          <a:prstGeom prst="straightConnector1">
            <a:avLst/>
          </a:prstGeom>
          <a:ln>
            <a:tailEnd type="triangle"/>
          </a:ln>
          <a:effectLst>
            <a:outerShdw blurRad="63500" sx="102000" sy="102000" algn="ctr"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5E0F0325-DBF4-6B7E-541B-75022DC0E559}"/>
              </a:ext>
            </a:extLst>
          </p:cNvPr>
          <p:cNvCxnSpPr>
            <a:cxnSpLocks/>
            <a:stCxn id="10" idx="1"/>
          </p:cNvCxnSpPr>
          <p:nvPr/>
        </p:nvCxnSpPr>
        <p:spPr>
          <a:xfrm flipH="1">
            <a:off x="2908540" y="4401593"/>
            <a:ext cx="816072" cy="70661"/>
          </a:xfrm>
          <a:prstGeom prst="straightConnector1">
            <a:avLst/>
          </a:prstGeom>
          <a:ln>
            <a:tailEnd type="triangle"/>
          </a:ln>
          <a:effectLst>
            <a:outerShdw blurRad="63500" sx="102000" sy="102000" algn="ctr"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pic>
        <p:nvPicPr>
          <p:cNvPr id="19" name="Picture 18">
            <a:extLst>
              <a:ext uri="{FF2B5EF4-FFF2-40B4-BE49-F238E27FC236}">
                <a16:creationId xmlns:a16="http://schemas.microsoft.com/office/drawing/2014/main" id="{ACACB5FB-8BC9-968A-AC26-5D60BF52CD09}"/>
              </a:ext>
            </a:extLst>
          </p:cNvPr>
          <p:cNvPicPr>
            <a:picLocks noChangeAspect="1"/>
          </p:cNvPicPr>
          <p:nvPr/>
        </p:nvPicPr>
        <p:blipFill>
          <a:blip r:embed="rId5"/>
          <a:stretch>
            <a:fillRect/>
          </a:stretch>
        </p:blipFill>
        <p:spPr>
          <a:xfrm>
            <a:off x="0" y="5098027"/>
            <a:ext cx="9144000" cy="172278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15404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a:extLst>
            <a:ext uri="{FF2B5EF4-FFF2-40B4-BE49-F238E27FC236}">
              <a16:creationId xmlns:a16="http://schemas.microsoft.com/office/drawing/2014/main" id="{AE6ABDA3-026E-7561-A551-34AD863BEE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0FB9A-B97A-AF90-9B9E-1A640069F524}"/>
              </a:ext>
            </a:extLst>
          </p:cNvPr>
          <p:cNvSpPr>
            <a:spLocks noGrp="1"/>
          </p:cNvSpPr>
          <p:nvPr>
            <p:ph type="ctrTitle"/>
          </p:nvPr>
        </p:nvSpPr>
        <p:spPr>
          <a:xfrm>
            <a:off x="0" y="37190"/>
            <a:ext cx="9144000" cy="1470025"/>
          </a:xfrm>
        </p:spPr>
        <p:txBody>
          <a:bodyPr>
            <a:noAutofit/>
          </a:bodyPr>
          <a:lstStyle/>
          <a:p>
            <a:r>
              <a:rPr lang="en-US" sz="3600" b="1" dirty="0">
                <a:solidFill>
                  <a:schemeClr val="tx2">
                    <a:lumMod val="50000"/>
                  </a:schemeClr>
                </a:solidFill>
              </a:rPr>
              <a:t>Replication Setup &amp; Demo Result</a:t>
            </a:r>
          </a:p>
        </p:txBody>
      </p:sp>
      <p:pic>
        <p:nvPicPr>
          <p:cNvPr id="2055" name="Picture 7" descr="A yellow letter on a blue background&#10;&#10;AI-generated content may be incorrect.">
            <a:extLst>
              <a:ext uri="{FF2B5EF4-FFF2-40B4-BE49-F238E27FC236}">
                <a16:creationId xmlns:a16="http://schemas.microsoft.com/office/drawing/2014/main" id="{2E7D3A02-4780-AF6F-9B99-C2170F1D1B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0347" y="37190"/>
            <a:ext cx="828675" cy="8191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99B119A0-93FF-A1CE-91F7-23DEFA32CF4D}"/>
              </a:ext>
            </a:extLst>
          </p:cNvPr>
          <p:cNvSpPr>
            <a:spLocks noChangeArrowheads="1"/>
          </p:cNvSpPr>
          <p:nvPr/>
        </p:nvSpPr>
        <p:spPr bwMode="auto">
          <a:xfrm>
            <a:off x="978010" y="-203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FAA62177-3AA6-CE58-3A62-01EFBA4710CC}"/>
              </a:ext>
            </a:extLst>
          </p:cNvPr>
          <p:cNvSpPr txBox="1"/>
          <p:nvPr/>
        </p:nvSpPr>
        <p:spPr>
          <a:xfrm>
            <a:off x="0" y="1292723"/>
            <a:ext cx="9143999" cy="1231106"/>
          </a:xfrm>
          <a:prstGeom prst="rect">
            <a:avLst/>
          </a:prstGeom>
          <a:noFill/>
          <a:effectLst>
            <a:outerShdw blurRad="63500" sx="102000" sy="102000" algn="ctr" rotWithShape="0">
              <a:prstClr val="black">
                <a:alpha val="40000"/>
              </a:prstClr>
            </a:outerShdw>
          </a:effectLst>
        </p:spPr>
        <p:txBody>
          <a:bodyPr wrap="square">
            <a:spAutoFit/>
          </a:bodyPr>
          <a:lstStyle/>
          <a:p>
            <a:r>
              <a:rPr lang="en-US" sz="2800" b="1" dirty="0"/>
              <a:t>Python Simulation Result</a:t>
            </a:r>
          </a:p>
          <a:p>
            <a:r>
              <a:rPr lang="en-US" dirty="0"/>
              <a:t>Threshold Crossing: Normal vs Anomalous Traffic</a:t>
            </a:r>
            <a:br>
              <a:rPr lang="en-US" sz="2800" dirty="0"/>
            </a:br>
            <a:endParaRPr lang="en-US" sz="2800" b="1" dirty="0">
              <a:solidFill>
                <a:schemeClr val="tx2">
                  <a:lumMod val="50000"/>
                </a:schemeClr>
              </a:solidFill>
            </a:endParaRPr>
          </a:p>
        </p:txBody>
      </p:sp>
      <p:pic>
        <p:nvPicPr>
          <p:cNvPr id="5" name="Picture 4">
            <a:extLst>
              <a:ext uri="{FF2B5EF4-FFF2-40B4-BE49-F238E27FC236}">
                <a16:creationId xmlns:a16="http://schemas.microsoft.com/office/drawing/2014/main" id="{AFB2FB63-C79E-AC9E-D117-4B8F0D2FDF05}"/>
              </a:ext>
            </a:extLst>
          </p:cNvPr>
          <p:cNvPicPr>
            <a:picLocks noChangeAspect="1"/>
          </p:cNvPicPr>
          <p:nvPr/>
        </p:nvPicPr>
        <p:blipFill>
          <a:blip r:embed="rId3"/>
          <a:stretch>
            <a:fillRect/>
          </a:stretch>
        </p:blipFill>
        <p:spPr>
          <a:xfrm>
            <a:off x="121380" y="2092680"/>
            <a:ext cx="8715300" cy="4585158"/>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83736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a:extLst>
            <a:ext uri="{FF2B5EF4-FFF2-40B4-BE49-F238E27FC236}">
              <a16:creationId xmlns:a16="http://schemas.microsoft.com/office/drawing/2014/main" id="{8BFB8DB9-2B65-9A4E-3D81-719AE56DDEB8}"/>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3C00B986-7690-998A-733E-ED97A6F71F87}"/>
              </a:ext>
            </a:extLst>
          </p:cNvPr>
          <p:cNvPicPr>
            <a:picLocks noChangeAspect="1"/>
          </p:cNvPicPr>
          <p:nvPr/>
        </p:nvPicPr>
        <p:blipFill>
          <a:blip r:embed="rId2"/>
          <a:stretch>
            <a:fillRect/>
          </a:stretch>
        </p:blipFill>
        <p:spPr>
          <a:xfrm>
            <a:off x="121380" y="2092680"/>
            <a:ext cx="8648547" cy="4585157"/>
          </a:xfrm>
          <a:prstGeom prst="rect">
            <a:avLst/>
          </a:prstGeom>
          <a:effectLst>
            <a:outerShdw blurRad="63500" sx="102000" sy="102000" algn="ctr" rotWithShape="0">
              <a:prstClr val="black">
                <a:alpha val="40000"/>
              </a:prstClr>
            </a:outerShdw>
          </a:effectLst>
        </p:spPr>
      </p:pic>
      <p:sp>
        <p:nvSpPr>
          <p:cNvPr id="2" name="Title 1">
            <a:extLst>
              <a:ext uri="{FF2B5EF4-FFF2-40B4-BE49-F238E27FC236}">
                <a16:creationId xmlns:a16="http://schemas.microsoft.com/office/drawing/2014/main" id="{2A8C2464-53A5-99DC-BC94-1015D7CDB3CB}"/>
              </a:ext>
            </a:extLst>
          </p:cNvPr>
          <p:cNvSpPr>
            <a:spLocks noGrp="1"/>
          </p:cNvSpPr>
          <p:nvPr>
            <p:ph type="ctrTitle"/>
          </p:nvPr>
        </p:nvSpPr>
        <p:spPr>
          <a:xfrm>
            <a:off x="0" y="37190"/>
            <a:ext cx="9144000" cy="1470025"/>
          </a:xfrm>
        </p:spPr>
        <p:txBody>
          <a:bodyPr>
            <a:noAutofit/>
          </a:bodyPr>
          <a:lstStyle/>
          <a:p>
            <a:r>
              <a:rPr lang="en-US" sz="3600" b="1" dirty="0">
                <a:solidFill>
                  <a:schemeClr val="tx2">
                    <a:lumMod val="50000"/>
                  </a:schemeClr>
                </a:solidFill>
              </a:rPr>
              <a:t>Replication Setup &amp; Demo Result</a:t>
            </a:r>
          </a:p>
        </p:txBody>
      </p:sp>
      <p:pic>
        <p:nvPicPr>
          <p:cNvPr id="2055" name="Picture 7" descr="A yellow letter on a blue background&#10;&#10;AI-generated content may be incorrect.">
            <a:extLst>
              <a:ext uri="{FF2B5EF4-FFF2-40B4-BE49-F238E27FC236}">
                <a16:creationId xmlns:a16="http://schemas.microsoft.com/office/drawing/2014/main" id="{083AD2F1-AC73-A569-58AD-6CB8611EEB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0347" y="37190"/>
            <a:ext cx="828675" cy="8191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71CF95BE-AB3A-7AEF-6590-2D35F1F94B5A}"/>
              </a:ext>
            </a:extLst>
          </p:cNvPr>
          <p:cNvSpPr>
            <a:spLocks noChangeArrowheads="1"/>
          </p:cNvSpPr>
          <p:nvPr/>
        </p:nvSpPr>
        <p:spPr bwMode="auto">
          <a:xfrm>
            <a:off x="978010" y="-203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3540A5B6-FB21-4C15-78A3-61A3FF450D44}"/>
              </a:ext>
            </a:extLst>
          </p:cNvPr>
          <p:cNvSpPr txBox="1"/>
          <p:nvPr/>
        </p:nvSpPr>
        <p:spPr>
          <a:xfrm>
            <a:off x="0" y="1292723"/>
            <a:ext cx="9143999" cy="1231106"/>
          </a:xfrm>
          <a:prstGeom prst="rect">
            <a:avLst/>
          </a:prstGeom>
          <a:noFill/>
          <a:effectLst>
            <a:outerShdw blurRad="63500" sx="102000" sy="102000" algn="ctr" rotWithShape="0">
              <a:prstClr val="black">
                <a:alpha val="40000"/>
              </a:prstClr>
            </a:outerShdw>
          </a:effectLst>
        </p:spPr>
        <p:txBody>
          <a:bodyPr wrap="square">
            <a:spAutoFit/>
          </a:bodyPr>
          <a:lstStyle/>
          <a:p>
            <a:r>
              <a:rPr lang="en-US" sz="2800" b="1" dirty="0"/>
              <a:t>Python Simulation Result</a:t>
            </a:r>
          </a:p>
          <a:p>
            <a:r>
              <a:rPr lang="en-US" dirty="0"/>
              <a:t>Threshold Crossing: Normal vs Anomalous Traffic</a:t>
            </a:r>
            <a:br>
              <a:rPr lang="en-US" sz="2800" dirty="0"/>
            </a:br>
            <a:endParaRPr lang="en-US" sz="2800" b="1" dirty="0">
              <a:solidFill>
                <a:schemeClr val="tx2">
                  <a:lumMod val="50000"/>
                </a:schemeClr>
              </a:solidFill>
            </a:endParaRPr>
          </a:p>
        </p:txBody>
      </p:sp>
    </p:spTree>
    <p:extLst>
      <p:ext uri="{BB962C8B-B14F-4D97-AF65-F5344CB8AC3E}">
        <p14:creationId xmlns:p14="http://schemas.microsoft.com/office/powerpoint/2010/main" val="1136456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a:extLst>
            <a:ext uri="{FF2B5EF4-FFF2-40B4-BE49-F238E27FC236}">
              <a16:creationId xmlns:a16="http://schemas.microsoft.com/office/drawing/2014/main" id="{B2D37D6D-537C-3749-E32C-33B3D18C5E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B3D894-FABB-B7B5-B1F8-6CDC175D947A}"/>
              </a:ext>
            </a:extLst>
          </p:cNvPr>
          <p:cNvSpPr>
            <a:spLocks noGrp="1"/>
          </p:cNvSpPr>
          <p:nvPr>
            <p:ph type="ctrTitle"/>
          </p:nvPr>
        </p:nvSpPr>
        <p:spPr>
          <a:xfrm>
            <a:off x="0" y="37190"/>
            <a:ext cx="9144000" cy="1470025"/>
          </a:xfrm>
        </p:spPr>
        <p:txBody>
          <a:bodyPr>
            <a:noAutofit/>
          </a:bodyPr>
          <a:lstStyle/>
          <a:p>
            <a:r>
              <a:rPr lang="en-US" sz="3600" b="1" dirty="0">
                <a:solidFill>
                  <a:schemeClr val="tx2">
                    <a:lumMod val="50000"/>
                  </a:schemeClr>
                </a:solidFill>
              </a:rPr>
              <a:t>Replication Setup &amp; Demo Result</a:t>
            </a:r>
          </a:p>
        </p:txBody>
      </p:sp>
      <p:pic>
        <p:nvPicPr>
          <p:cNvPr id="2055" name="Picture 7" descr="A yellow letter on a blue background&#10;&#10;AI-generated content may be incorrect.">
            <a:extLst>
              <a:ext uri="{FF2B5EF4-FFF2-40B4-BE49-F238E27FC236}">
                <a16:creationId xmlns:a16="http://schemas.microsoft.com/office/drawing/2014/main" id="{96B9A61B-89D0-D51A-214D-26234985B3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0347" y="37190"/>
            <a:ext cx="828675" cy="8191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20ABDFF4-8614-B27A-83A9-EE8264DC9E49}"/>
              </a:ext>
            </a:extLst>
          </p:cNvPr>
          <p:cNvSpPr>
            <a:spLocks noChangeArrowheads="1"/>
          </p:cNvSpPr>
          <p:nvPr/>
        </p:nvSpPr>
        <p:spPr bwMode="auto">
          <a:xfrm>
            <a:off x="978010" y="-203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DD6E4640-A85A-CB5B-9D2F-EFC18AEAAC37}"/>
              </a:ext>
            </a:extLst>
          </p:cNvPr>
          <p:cNvSpPr txBox="1"/>
          <p:nvPr/>
        </p:nvSpPr>
        <p:spPr>
          <a:xfrm>
            <a:off x="1" y="980107"/>
            <a:ext cx="9143999" cy="1231106"/>
          </a:xfrm>
          <a:prstGeom prst="rect">
            <a:avLst/>
          </a:prstGeom>
          <a:noFill/>
          <a:effectLst>
            <a:outerShdw blurRad="63500" sx="102000" sy="102000" algn="ctr" rotWithShape="0">
              <a:prstClr val="black">
                <a:alpha val="40000"/>
              </a:prstClr>
            </a:outerShdw>
          </a:effectLst>
        </p:spPr>
        <p:txBody>
          <a:bodyPr wrap="square">
            <a:spAutoFit/>
          </a:bodyPr>
          <a:lstStyle/>
          <a:p>
            <a:r>
              <a:rPr lang="en-US" sz="2800" b="1" dirty="0"/>
              <a:t>Python Simulation Result</a:t>
            </a:r>
          </a:p>
          <a:p>
            <a:r>
              <a:rPr lang="en-US" dirty="0"/>
              <a:t>Average Delay vs Anomalous Traffic Ratio</a:t>
            </a:r>
            <a:br>
              <a:rPr lang="en-US" sz="2800" dirty="0"/>
            </a:br>
            <a:endParaRPr lang="en-US" sz="2800" b="1" dirty="0">
              <a:solidFill>
                <a:schemeClr val="tx2">
                  <a:lumMod val="50000"/>
                </a:schemeClr>
              </a:solidFill>
            </a:endParaRPr>
          </a:p>
        </p:txBody>
      </p:sp>
      <p:pic>
        <p:nvPicPr>
          <p:cNvPr id="5" name="Picture 4">
            <a:extLst>
              <a:ext uri="{FF2B5EF4-FFF2-40B4-BE49-F238E27FC236}">
                <a16:creationId xmlns:a16="http://schemas.microsoft.com/office/drawing/2014/main" id="{5CE85194-002E-C132-EBAB-870C713CC06F}"/>
              </a:ext>
            </a:extLst>
          </p:cNvPr>
          <p:cNvPicPr>
            <a:picLocks noChangeAspect="1"/>
          </p:cNvPicPr>
          <p:nvPr/>
        </p:nvPicPr>
        <p:blipFill>
          <a:blip r:embed="rId3"/>
          <a:stretch>
            <a:fillRect/>
          </a:stretch>
        </p:blipFill>
        <p:spPr>
          <a:xfrm>
            <a:off x="46893" y="1747605"/>
            <a:ext cx="4759569" cy="4457810"/>
          </a:xfrm>
          <a:prstGeom prst="rect">
            <a:avLst/>
          </a:prstGeom>
          <a:effectLst>
            <a:outerShdw blurRad="63500" sx="102000" sy="102000" algn="ctr" rotWithShape="0">
              <a:prstClr val="black">
                <a:alpha val="40000"/>
              </a:prstClr>
            </a:outerShdw>
          </a:effectLst>
        </p:spPr>
      </p:pic>
      <p:graphicFrame>
        <p:nvGraphicFramePr>
          <p:cNvPr id="3" name="Table 2">
            <a:extLst>
              <a:ext uri="{FF2B5EF4-FFF2-40B4-BE49-F238E27FC236}">
                <a16:creationId xmlns:a16="http://schemas.microsoft.com/office/drawing/2014/main" id="{16C42A42-7A3C-07C5-812B-56E0D8676400}"/>
              </a:ext>
            </a:extLst>
          </p:cNvPr>
          <p:cNvGraphicFramePr>
            <a:graphicFrameLocks noGrp="1"/>
          </p:cNvGraphicFramePr>
          <p:nvPr>
            <p:extLst>
              <p:ext uri="{D42A27DB-BD31-4B8C-83A1-F6EECF244321}">
                <p14:modId xmlns:p14="http://schemas.microsoft.com/office/powerpoint/2010/main" val="952467637"/>
              </p:ext>
            </p:extLst>
          </p:nvPr>
        </p:nvGraphicFramePr>
        <p:xfrm>
          <a:off x="5072931" y="1747605"/>
          <a:ext cx="4006092" cy="2768739"/>
        </p:xfrm>
        <a:graphic>
          <a:graphicData uri="http://schemas.openxmlformats.org/drawingml/2006/table">
            <a:tbl>
              <a:tblPr/>
              <a:tblGrid>
                <a:gridCol w="1335364">
                  <a:extLst>
                    <a:ext uri="{9D8B030D-6E8A-4147-A177-3AD203B41FA5}">
                      <a16:colId xmlns:a16="http://schemas.microsoft.com/office/drawing/2014/main" val="4247808574"/>
                    </a:ext>
                  </a:extLst>
                </a:gridCol>
                <a:gridCol w="1335364">
                  <a:extLst>
                    <a:ext uri="{9D8B030D-6E8A-4147-A177-3AD203B41FA5}">
                      <a16:colId xmlns:a16="http://schemas.microsoft.com/office/drawing/2014/main" val="1260077488"/>
                    </a:ext>
                  </a:extLst>
                </a:gridCol>
                <a:gridCol w="1335364">
                  <a:extLst>
                    <a:ext uri="{9D8B030D-6E8A-4147-A177-3AD203B41FA5}">
                      <a16:colId xmlns:a16="http://schemas.microsoft.com/office/drawing/2014/main" val="2250081521"/>
                    </a:ext>
                  </a:extLst>
                </a:gridCol>
              </a:tblGrid>
              <a:tr h="275613">
                <a:tc>
                  <a:txBody>
                    <a:bodyPr/>
                    <a:lstStyle/>
                    <a:p>
                      <a:pPr>
                        <a:buNone/>
                      </a:pPr>
                      <a:r>
                        <a:rPr lang="en-US" sz="1000" b="1"/>
                        <a:t>Feature</a:t>
                      </a:r>
                    </a:p>
                  </a:txBody>
                  <a:tcPr anchor="ctr">
                    <a:lnL>
                      <a:noFill/>
                    </a:lnL>
                    <a:lnR>
                      <a:noFill/>
                    </a:lnR>
                    <a:lnT>
                      <a:noFill/>
                    </a:lnT>
                    <a:lnB>
                      <a:noFill/>
                    </a:lnB>
                    <a:noFill/>
                  </a:tcPr>
                </a:tc>
                <a:tc>
                  <a:txBody>
                    <a:bodyPr/>
                    <a:lstStyle/>
                    <a:p>
                      <a:pPr>
                        <a:buNone/>
                      </a:pPr>
                      <a:r>
                        <a:rPr lang="en-US" sz="1000" b="1" dirty="0"/>
                        <a:t>Entropy-style</a:t>
                      </a:r>
                    </a:p>
                  </a:txBody>
                  <a:tcPr anchor="ctr">
                    <a:lnL>
                      <a:noFill/>
                    </a:lnL>
                    <a:lnR>
                      <a:noFill/>
                    </a:lnR>
                    <a:lnT>
                      <a:noFill/>
                    </a:lnT>
                    <a:lnB>
                      <a:noFill/>
                    </a:lnB>
                    <a:noFill/>
                  </a:tcPr>
                </a:tc>
                <a:tc>
                  <a:txBody>
                    <a:bodyPr/>
                    <a:lstStyle/>
                    <a:p>
                      <a:pPr>
                        <a:buNone/>
                      </a:pPr>
                      <a:r>
                        <a:rPr lang="en-US" sz="1000" b="1"/>
                        <a:t>Bucket Dominance</a:t>
                      </a:r>
                    </a:p>
                  </a:txBody>
                  <a:tcPr anchor="ctr">
                    <a:lnL>
                      <a:noFill/>
                    </a:lnL>
                    <a:lnR>
                      <a:noFill/>
                    </a:lnR>
                    <a:lnT>
                      <a:noFill/>
                    </a:lnT>
                    <a:lnB>
                      <a:noFill/>
                    </a:lnB>
                    <a:noFill/>
                  </a:tcPr>
                </a:tc>
                <a:extLst>
                  <a:ext uri="{0D108BD9-81ED-4DB2-BD59-A6C34878D82A}">
                    <a16:rowId xmlns:a16="http://schemas.microsoft.com/office/drawing/2014/main" val="1627541617"/>
                  </a:ext>
                </a:extLst>
              </a:tr>
              <a:tr h="415521">
                <a:tc>
                  <a:txBody>
                    <a:bodyPr/>
                    <a:lstStyle/>
                    <a:p>
                      <a:pPr>
                        <a:buNone/>
                      </a:pPr>
                      <a:r>
                        <a:rPr lang="en-US" sz="1000" b="1" dirty="0"/>
                        <a:t>What it measures</a:t>
                      </a:r>
                    </a:p>
                  </a:txBody>
                  <a:tcPr anchor="ctr">
                    <a:lnL>
                      <a:noFill/>
                    </a:lnL>
                    <a:lnR>
                      <a:noFill/>
                    </a:lnR>
                    <a:lnT>
                      <a:noFill/>
                    </a:lnT>
                    <a:lnB>
                      <a:noFill/>
                    </a:lnB>
                    <a:noFill/>
                  </a:tcPr>
                </a:tc>
                <a:tc>
                  <a:txBody>
                    <a:bodyPr/>
                    <a:lstStyle/>
                    <a:p>
                      <a:pPr>
                        <a:buNone/>
                      </a:pPr>
                      <a:r>
                        <a:rPr lang="en-US" sz="1000" b="1"/>
                        <a:t>Overall randomness</a:t>
                      </a:r>
                    </a:p>
                  </a:txBody>
                  <a:tcPr anchor="ctr">
                    <a:lnL>
                      <a:noFill/>
                    </a:lnL>
                    <a:lnR>
                      <a:noFill/>
                    </a:lnR>
                    <a:lnT>
                      <a:noFill/>
                    </a:lnT>
                    <a:lnB>
                      <a:noFill/>
                    </a:lnB>
                    <a:noFill/>
                  </a:tcPr>
                </a:tc>
                <a:tc>
                  <a:txBody>
                    <a:bodyPr/>
                    <a:lstStyle/>
                    <a:p>
                      <a:pPr>
                        <a:buNone/>
                      </a:pPr>
                      <a:r>
                        <a:rPr lang="en-US" sz="1000" b="1"/>
                        <a:t>Largest traffic share</a:t>
                      </a:r>
                    </a:p>
                  </a:txBody>
                  <a:tcPr anchor="ctr">
                    <a:lnL>
                      <a:noFill/>
                    </a:lnL>
                    <a:lnR>
                      <a:noFill/>
                    </a:lnR>
                    <a:lnT>
                      <a:noFill/>
                    </a:lnT>
                    <a:lnB>
                      <a:noFill/>
                    </a:lnB>
                    <a:noFill/>
                  </a:tcPr>
                </a:tc>
                <a:extLst>
                  <a:ext uri="{0D108BD9-81ED-4DB2-BD59-A6C34878D82A}">
                    <a16:rowId xmlns:a16="http://schemas.microsoft.com/office/drawing/2014/main" val="1950988021"/>
                  </a:ext>
                </a:extLst>
              </a:tr>
              <a:tr h="415521">
                <a:tc>
                  <a:txBody>
                    <a:bodyPr/>
                    <a:lstStyle/>
                    <a:p>
                      <a:pPr>
                        <a:buNone/>
                      </a:pPr>
                      <a:r>
                        <a:rPr lang="en-US" sz="1000" b="1"/>
                        <a:t>Detection idea</a:t>
                      </a:r>
                    </a:p>
                  </a:txBody>
                  <a:tcPr anchor="ctr">
                    <a:lnL>
                      <a:noFill/>
                    </a:lnL>
                    <a:lnR>
                      <a:noFill/>
                    </a:lnR>
                    <a:lnT>
                      <a:noFill/>
                    </a:lnT>
                    <a:lnB>
                      <a:noFill/>
                    </a:lnB>
                    <a:noFill/>
                  </a:tcPr>
                </a:tc>
                <a:tc>
                  <a:txBody>
                    <a:bodyPr/>
                    <a:lstStyle/>
                    <a:p>
                      <a:pPr>
                        <a:buNone/>
                      </a:pPr>
                      <a:r>
                        <a:rPr lang="en-US" sz="1000" b="1"/>
                        <a:t>Distribution change</a:t>
                      </a:r>
                    </a:p>
                  </a:txBody>
                  <a:tcPr anchor="ctr">
                    <a:lnL>
                      <a:noFill/>
                    </a:lnL>
                    <a:lnR>
                      <a:noFill/>
                    </a:lnR>
                    <a:lnT>
                      <a:noFill/>
                    </a:lnT>
                    <a:lnB>
                      <a:noFill/>
                    </a:lnB>
                    <a:noFill/>
                  </a:tcPr>
                </a:tc>
                <a:tc>
                  <a:txBody>
                    <a:bodyPr/>
                    <a:lstStyle/>
                    <a:p>
                      <a:pPr>
                        <a:buNone/>
                      </a:pPr>
                      <a:r>
                        <a:rPr lang="en-US" sz="1000" b="1"/>
                        <a:t>One bucket dominates</a:t>
                      </a:r>
                    </a:p>
                  </a:txBody>
                  <a:tcPr anchor="ctr">
                    <a:lnL>
                      <a:noFill/>
                    </a:lnL>
                    <a:lnR>
                      <a:noFill/>
                    </a:lnR>
                    <a:lnT>
                      <a:noFill/>
                    </a:lnT>
                    <a:lnB>
                      <a:noFill/>
                    </a:lnB>
                    <a:noFill/>
                  </a:tcPr>
                </a:tc>
                <a:extLst>
                  <a:ext uri="{0D108BD9-81ED-4DB2-BD59-A6C34878D82A}">
                    <a16:rowId xmlns:a16="http://schemas.microsoft.com/office/drawing/2014/main" val="4139699424"/>
                  </a:ext>
                </a:extLst>
              </a:tr>
              <a:tr h="415521">
                <a:tc>
                  <a:txBody>
                    <a:bodyPr/>
                    <a:lstStyle/>
                    <a:p>
                      <a:pPr>
                        <a:buNone/>
                      </a:pPr>
                      <a:r>
                        <a:rPr lang="en-US" sz="1000" b="1"/>
                        <a:t>Sensitivity</a:t>
                      </a:r>
                    </a:p>
                  </a:txBody>
                  <a:tcPr anchor="ctr">
                    <a:lnL>
                      <a:noFill/>
                    </a:lnL>
                    <a:lnR>
                      <a:noFill/>
                    </a:lnR>
                    <a:lnT>
                      <a:noFill/>
                    </a:lnT>
                    <a:lnB>
                      <a:noFill/>
                    </a:lnB>
                    <a:noFill/>
                  </a:tcPr>
                </a:tc>
                <a:tc>
                  <a:txBody>
                    <a:bodyPr/>
                    <a:lstStyle/>
                    <a:p>
                      <a:pPr>
                        <a:buNone/>
                      </a:pPr>
                      <a:r>
                        <a:rPr lang="en-US" sz="1000" b="1"/>
                        <a:t>Detects subtle changes</a:t>
                      </a:r>
                    </a:p>
                  </a:txBody>
                  <a:tcPr anchor="ctr">
                    <a:lnL>
                      <a:noFill/>
                    </a:lnL>
                    <a:lnR>
                      <a:noFill/>
                    </a:lnR>
                    <a:lnT>
                      <a:noFill/>
                    </a:lnT>
                    <a:lnB>
                      <a:noFill/>
                    </a:lnB>
                    <a:noFill/>
                  </a:tcPr>
                </a:tc>
                <a:tc>
                  <a:txBody>
                    <a:bodyPr/>
                    <a:lstStyle/>
                    <a:p>
                      <a:pPr>
                        <a:buNone/>
                      </a:pPr>
                      <a:r>
                        <a:rPr lang="en-US" sz="1000" b="1"/>
                        <a:t>Detects strong imbalance</a:t>
                      </a:r>
                    </a:p>
                  </a:txBody>
                  <a:tcPr anchor="ctr">
                    <a:lnL>
                      <a:noFill/>
                    </a:lnL>
                    <a:lnR>
                      <a:noFill/>
                    </a:lnR>
                    <a:lnT>
                      <a:noFill/>
                    </a:lnT>
                    <a:lnB>
                      <a:noFill/>
                    </a:lnB>
                    <a:noFill/>
                  </a:tcPr>
                </a:tc>
                <a:extLst>
                  <a:ext uri="{0D108BD9-81ED-4DB2-BD59-A6C34878D82A}">
                    <a16:rowId xmlns:a16="http://schemas.microsoft.com/office/drawing/2014/main" val="307133080"/>
                  </a:ext>
                </a:extLst>
              </a:tr>
              <a:tr h="415521">
                <a:tc>
                  <a:txBody>
                    <a:bodyPr/>
                    <a:lstStyle/>
                    <a:p>
                      <a:pPr>
                        <a:buNone/>
                      </a:pPr>
                      <a:r>
                        <a:rPr lang="en-US" sz="1000" b="1"/>
                        <a:t>Complexity</a:t>
                      </a:r>
                    </a:p>
                  </a:txBody>
                  <a:tcPr anchor="ctr">
                    <a:lnL>
                      <a:noFill/>
                    </a:lnL>
                    <a:lnR>
                      <a:noFill/>
                    </a:lnR>
                    <a:lnT>
                      <a:noFill/>
                    </a:lnT>
                    <a:lnB>
                      <a:noFill/>
                    </a:lnB>
                    <a:noFill/>
                  </a:tcPr>
                </a:tc>
                <a:tc>
                  <a:txBody>
                    <a:bodyPr/>
                    <a:lstStyle/>
                    <a:p>
                      <a:pPr>
                        <a:buNone/>
                      </a:pPr>
                      <a:r>
                        <a:rPr lang="en-US" sz="1000" b="1"/>
                        <a:t>Higher (log calculations)</a:t>
                      </a:r>
                    </a:p>
                  </a:txBody>
                  <a:tcPr anchor="ctr">
                    <a:lnL>
                      <a:noFill/>
                    </a:lnL>
                    <a:lnR>
                      <a:noFill/>
                    </a:lnR>
                    <a:lnT>
                      <a:noFill/>
                    </a:lnT>
                    <a:lnB>
                      <a:noFill/>
                    </a:lnB>
                    <a:noFill/>
                  </a:tcPr>
                </a:tc>
                <a:tc>
                  <a:txBody>
                    <a:bodyPr/>
                    <a:lstStyle/>
                    <a:p>
                      <a:pPr>
                        <a:buNone/>
                      </a:pPr>
                      <a:r>
                        <a:rPr lang="en-US" sz="1000" b="1"/>
                        <a:t>Low (simple ratio/count)</a:t>
                      </a:r>
                    </a:p>
                  </a:txBody>
                  <a:tcPr anchor="ctr">
                    <a:lnL>
                      <a:noFill/>
                    </a:lnL>
                    <a:lnR>
                      <a:noFill/>
                    </a:lnR>
                    <a:lnT>
                      <a:noFill/>
                    </a:lnT>
                    <a:lnB>
                      <a:noFill/>
                    </a:lnB>
                    <a:noFill/>
                  </a:tcPr>
                </a:tc>
                <a:extLst>
                  <a:ext uri="{0D108BD9-81ED-4DB2-BD59-A6C34878D82A}">
                    <a16:rowId xmlns:a16="http://schemas.microsoft.com/office/drawing/2014/main" val="688169161"/>
                  </a:ext>
                </a:extLst>
              </a:tr>
              <a:tr h="415521">
                <a:tc>
                  <a:txBody>
                    <a:bodyPr/>
                    <a:lstStyle/>
                    <a:p>
                      <a:pPr>
                        <a:buNone/>
                      </a:pPr>
                      <a:r>
                        <a:rPr lang="en-US" sz="1000" b="1"/>
                        <a:t>P4 compatibility</a:t>
                      </a:r>
                    </a:p>
                  </a:txBody>
                  <a:tcPr anchor="ctr">
                    <a:lnL>
                      <a:noFill/>
                    </a:lnL>
                    <a:lnR>
                      <a:noFill/>
                    </a:lnR>
                    <a:lnT>
                      <a:noFill/>
                    </a:lnT>
                    <a:lnB>
                      <a:noFill/>
                    </a:lnB>
                    <a:noFill/>
                  </a:tcPr>
                </a:tc>
                <a:tc>
                  <a:txBody>
                    <a:bodyPr/>
                    <a:lstStyle/>
                    <a:p>
                      <a:pPr>
                        <a:buNone/>
                      </a:pPr>
                      <a:r>
                        <a:rPr lang="en-US" sz="1000" b="1" dirty="0"/>
                        <a:t>Hard to implement</a:t>
                      </a:r>
                    </a:p>
                  </a:txBody>
                  <a:tcPr anchor="ctr">
                    <a:lnL>
                      <a:noFill/>
                    </a:lnL>
                    <a:lnR>
                      <a:noFill/>
                    </a:lnR>
                    <a:lnT>
                      <a:noFill/>
                    </a:lnT>
                    <a:lnB>
                      <a:noFill/>
                    </a:lnB>
                    <a:noFill/>
                  </a:tcPr>
                </a:tc>
                <a:tc>
                  <a:txBody>
                    <a:bodyPr/>
                    <a:lstStyle/>
                    <a:p>
                      <a:pPr>
                        <a:buNone/>
                      </a:pPr>
                      <a:r>
                        <a:rPr lang="en-US" sz="1000" b="1" dirty="0"/>
                        <a:t>Easy to implement</a:t>
                      </a:r>
                    </a:p>
                  </a:txBody>
                  <a:tcPr anchor="ctr">
                    <a:lnL>
                      <a:noFill/>
                    </a:lnL>
                    <a:lnR>
                      <a:noFill/>
                    </a:lnR>
                    <a:lnT>
                      <a:noFill/>
                    </a:lnT>
                    <a:lnB>
                      <a:noFill/>
                    </a:lnB>
                    <a:noFill/>
                  </a:tcPr>
                </a:tc>
                <a:extLst>
                  <a:ext uri="{0D108BD9-81ED-4DB2-BD59-A6C34878D82A}">
                    <a16:rowId xmlns:a16="http://schemas.microsoft.com/office/drawing/2014/main" val="752422560"/>
                  </a:ext>
                </a:extLst>
              </a:tr>
              <a:tr h="415521">
                <a:tc>
                  <a:txBody>
                    <a:bodyPr/>
                    <a:lstStyle/>
                    <a:p>
                      <a:pPr>
                        <a:buNone/>
                      </a:pPr>
                      <a:r>
                        <a:rPr lang="en-US" sz="1000" b="1" dirty="0"/>
                        <a:t>Where in project</a:t>
                      </a:r>
                    </a:p>
                  </a:txBody>
                  <a:tcPr anchor="ctr">
                    <a:lnL>
                      <a:noFill/>
                    </a:lnL>
                    <a:lnR>
                      <a:noFill/>
                    </a:lnR>
                    <a:lnT>
                      <a:noFill/>
                    </a:lnT>
                    <a:lnB>
                      <a:noFill/>
                    </a:lnB>
                    <a:noFill/>
                  </a:tcPr>
                </a:tc>
                <a:tc>
                  <a:txBody>
                    <a:bodyPr/>
                    <a:lstStyle/>
                    <a:p>
                      <a:pPr>
                        <a:buNone/>
                      </a:pPr>
                      <a:r>
                        <a:rPr lang="en-US" sz="1000" b="1" dirty="0"/>
                        <a:t>Python</a:t>
                      </a:r>
                    </a:p>
                  </a:txBody>
                  <a:tcPr anchor="ctr">
                    <a:lnL>
                      <a:noFill/>
                    </a:lnL>
                    <a:lnR>
                      <a:noFill/>
                    </a:lnR>
                    <a:lnT>
                      <a:noFill/>
                    </a:lnT>
                    <a:lnB>
                      <a:noFill/>
                    </a:lnB>
                    <a:noFill/>
                  </a:tcPr>
                </a:tc>
                <a:tc>
                  <a:txBody>
                    <a:bodyPr/>
                    <a:lstStyle/>
                    <a:p>
                      <a:pPr>
                        <a:buNone/>
                      </a:pPr>
                      <a:r>
                        <a:rPr lang="en-US" sz="1000" b="1" dirty="0"/>
                        <a:t>Python + P4</a:t>
                      </a:r>
                    </a:p>
                  </a:txBody>
                  <a:tcPr anchor="ctr">
                    <a:lnL>
                      <a:noFill/>
                    </a:lnL>
                    <a:lnR>
                      <a:noFill/>
                    </a:lnR>
                    <a:lnT>
                      <a:noFill/>
                    </a:lnT>
                    <a:lnB>
                      <a:noFill/>
                    </a:lnB>
                    <a:noFill/>
                  </a:tcPr>
                </a:tc>
                <a:extLst>
                  <a:ext uri="{0D108BD9-81ED-4DB2-BD59-A6C34878D82A}">
                    <a16:rowId xmlns:a16="http://schemas.microsoft.com/office/drawing/2014/main" val="3996891350"/>
                  </a:ext>
                </a:extLst>
              </a:tr>
            </a:tbl>
          </a:graphicData>
        </a:graphic>
      </p:graphicFrame>
      <p:sp>
        <p:nvSpPr>
          <p:cNvPr id="7" name="TextBox 6">
            <a:extLst>
              <a:ext uri="{FF2B5EF4-FFF2-40B4-BE49-F238E27FC236}">
                <a16:creationId xmlns:a16="http://schemas.microsoft.com/office/drawing/2014/main" id="{37CE3F51-6ADA-AC60-DFF5-74A491876FB5}"/>
              </a:ext>
            </a:extLst>
          </p:cNvPr>
          <p:cNvSpPr txBox="1"/>
          <p:nvPr/>
        </p:nvSpPr>
        <p:spPr>
          <a:xfrm>
            <a:off x="4853355" y="4752935"/>
            <a:ext cx="1723293" cy="738664"/>
          </a:xfrm>
          <a:prstGeom prst="rect">
            <a:avLst/>
          </a:prstGeom>
          <a:noFill/>
        </p:spPr>
        <p:txBody>
          <a:bodyPr wrap="square">
            <a:spAutoFit/>
          </a:bodyPr>
          <a:lstStyle/>
          <a:p>
            <a:r>
              <a:rPr lang="en-US" sz="1050" b="1" dirty="0">
                <a:solidFill>
                  <a:srgbClr val="002060"/>
                </a:solidFill>
              </a:rPr>
              <a:t>Normal traffic</a:t>
            </a:r>
          </a:p>
          <a:p>
            <a:r>
              <a:rPr lang="en-US" sz="1050" dirty="0"/>
              <a:t>10%, 10%, 10%, 10%, ...</a:t>
            </a:r>
          </a:p>
          <a:p>
            <a:r>
              <a:rPr lang="en-US" sz="1050" dirty="0"/>
              <a:t>Entropy → HIGH </a:t>
            </a:r>
          </a:p>
          <a:p>
            <a:r>
              <a:rPr lang="en-US" sz="1050" dirty="0"/>
              <a:t>Bucket → LOW dominance </a:t>
            </a:r>
          </a:p>
        </p:txBody>
      </p:sp>
      <p:sp>
        <p:nvSpPr>
          <p:cNvPr id="8" name="TextBox 7">
            <a:extLst>
              <a:ext uri="{FF2B5EF4-FFF2-40B4-BE49-F238E27FC236}">
                <a16:creationId xmlns:a16="http://schemas.microsoft.com/office/drawing/2014/main" id="{A9650B04-D07D-4D3A-7E38-6785469ED81E}"/>
              </a:ext>
            </a:extLst>
          </p:cNvPr>
          <p:cNvSpPr txBox="1"/>
          <p:nvPr/>
        </p:nvSpPr>
        <p:spPr>
          <a:xfrm>
            <a:off x="6576648" y="4751390"/>
            <a:ext cx="2032000" cy="738664"/>
          </a:xfrm>
          <a:prstGeom prst="rect">
            <a:avLst/>
          </a:prstGeom>
          <a:noFill/>
        </p:spPr>
        <p:txBody>
          <a:bodyPr wrap="square">
            <a:spAutoFit/>
          </a:bodyPr>
          <a:lstStyle/>
          <a:p>
            <a:r>
              <a:rPr lang="en-US" sz="1050" b="1" dirty="0">
                <a:solidFill>
                  <a:srgbClr val="FF0000"/>
                </a:solidFill>
              </a:rPr>
              <a:t>Attack traffic</a:t>
            </a:r>
          </a:p>
          <a:p>
            <a:r>
              <a:rPr lang="en-US" sz="1050" dirty="0"/>
              <a:t>70%, 5%, 5%, 5%, ...</a:t>
            </a:r>
          </a:p>
          <a:p>
            <a:r>
              <a:rPr lang="en-US" sz="1050" dirty="0"/>
              <a:t>Entropy → LOW </a:t>
            </a:r>
          </a:p>
          <a:p>
            <a:r>
              <a:rPr lang="en-US" sz="1050" dirty="0"/>
              <a:t>Bucket → HIGH </a:t>
            </a:r>
          </a:p>
        </p:txBody>
      </p:sp>
      <p:sp>
        <p:nvSpPr>
          <p:cNvPr id="10" name="TextBox 9">
            <a:extLst>
              <a:ext uri="{FF2B5EF4-FFF2-40B4-BE49-F238E27FC236}">
                <a16:creationId xmlns:a16="http://schemas.microsoft.com/office/drawing/2014/main" id="{AE03CBD6-FE27-4B82-CE6E-CA09EA2A1AEC}"/>
              </a:ext>
            </a:extLst>
          </p:cNvPr>
          <p:cNvSpPr txBox="1"/>
          <p:nvPr/>
        </p:nvSpPr>
        <p:spPr>
          <a:xfrm>
            <a:off x="4853354" y="5580151"/>
            <a:ext cx="4163143" cy="900246"/>
          </a:xfrm>
          <a:prstGeom prst="rect">
            <a:avLst/>
          </a:prstGeom>
          <a:noFill/>
        </p:spPr>
        <p:txBody>
          <a:bodyPr wrap="square">
            <a:spAutoFit/>
          </a:bodyPr>
          <a:lstStyle/>
          <a:p>
            <a:r>
              <a:rPr lang="en-US" sz="1050" b="1" dirty="0">
                <a:solidFill>
                  <a:srgbClr val="FF0000"/>
                </a:solidFill>
              </a:rPr>
              <a:t>Entropy-style is hard to implement in P4 due to limitations:</a:t>
            </a:r>
          </a:p>
          <a:p>
            <a:r>
              <a:rPr lang="en-US" sz="1050" dirty="0"/>
              <a:t>1- No floating-point operations </a:t>
            </a:r>
          </a:p>
          <a:p>
            <a:r>
              <a:rPr lang="en-US" sz="1050" dirty="0"/>
              <a:t>2- No logarithmic functions </a:t>
            </a:r>
          </a:p>
          <a:p>
            <a:r>
              <a:rPr lang="en-US" sz="1050" dirty="0"/>
              <a:t>3- Limited arithmetic support </a:t>
            </a:r>
          </a:p>
          <a:p>
            <a:endParaRPr lang="en-US" sz="1050" dirty="0"/>
          </a:p>
        </p:txBody>
      </p:sp>
    </p:spTree>
    <p:extLst>
      <p:ext uri="{BB962C8B-B14F-4D97-AF65-F5344CB8AC3E}">
        <p14:creationId xmlns:p14="http://schemas.microsoft.com/office/powerpoint/2010/main" val="20100951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a:extLst>
            <a:ext uri="{FF2B5EF4-FFF2-40B4-BE49-F238E27FC236}">
              <a16:creationId xmlns:a16="http://schemas.microsoft.com/office/drawing/2014/main" id="{C4C0D7F0-3C1D-9C0C-971D-2C2E76CEEE1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81465D6-FBCF-4D50-4954-27C7ED8DC1CD}"/>
              </a:ext>
            </a:extLst>
          </p:cNvPr>
          <p:cNvPicPr>
            <a:picLocks noChangeAspect="1"/>
          </p:cNvPicPr>
          <p:nvPr/>
        </p:nvPicPr>
        <p:blipFill>
          <a:blip r:embed="rId2"/>
          <a:stretch>
            <a:fillRect/>
          </a:stretch>
        </p:blipFill>
        <p:spPr>
          <a:xfrm>
            <a:off x="243863" y="2111873"/>
            <a:ext cx="8006483" cy="4659575"/>
          </a:xfrm>
          <a:prstGeom prst="rect">
            <a:avLst/>
          </a:prstGeom>
        </p:spPr>
      </p:pic>
      <p:sp>
        <p:nvSpPr>
          <p:cNvPr id="2" name="Title 1">
            <a:extLst>
              <a:ext uri="{FF2B5EF4-FFF2-40B4-BE49-F238E27FC236}">
                <a16:creationId xmlns:a16="http://schemas.microsoft.com/office/drawing/2014/main" id="{EBE9FA83-99C5-CE66-B90D-549FA9A6FDFA}"/>
              </a:ext>
            </a:extLst>
          </p:cNvPr>
          <p:cNvSpPr>
            <a:spLocks noGrp="1"/>
          </p:cNvSpPr>
          <p:nvPr>
            <p:ph type="ctrTitle"/>
          </p:nvPr>
        </p:nvSpPr>
        <p:spPr>
          <a:xfrm>
            <a:off x="0" y="37190"/>
            <a:ext cx="9144000" cy="1470025"/>
          </a:xfrm>
        </p:spPr>
        <p:txBody>
          <a:bodyPr>
            <a:noAutofit/>
          </a:bodyPr>
          <a:lstStyle/>
          <a:p>
            <a:r>
              <a:rPr lang="en-US" sz="3600" b="1" dirty="0">
                <a:solidFill>
                  <a:schemeClr val="tx2">
                    <a:lumMod val="50000"/>
                  </a:schemeClr>
                </a:solidFill>
              </a:rPr>
              <a:t>Replication Setup &amp; Demo Result</a:t>
            </a:r>
          </a:p>
        </p:txBody>
      </p:sp>
      <p:pic>
        <p:nvPicPr>
          <p:cNvPr id="2055" name="Picture 7" descr="A yellow letter on a blue background&#10;&#10;AI-generated content may be incorrect.">
            <a:extLst>
              <a:ext uri="{FF2B5EF4-FFF2-40B4-BE49-F238E27FC236}">
                <a16:creationId xmlns:a16="http://schemas.microsoft.com/office/drawing/2014/main" id="{8A24DF27-71F2-2013-B4E4-5D36F3A849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0347" y="37190"/>
            <a:ext cx="828675" cy="8191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94EDA25-2771-3DB3-F34A-6D6CFEEDFB52}"/>
              </a:ext>
            </a:extLst>
          </p:cNvPr>
          <p:cNvSpPr>
            <a:spLocks noChangeArrowheads="1"/>
          </p:cNvSpPr>
          <p:nvPr/>
        </p:nvSpPr>
        <p:spPr bwMode="auto">
          <a:xfrm>
            <a:off x="978010" y="-203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CE07A573-BCB3-1562-D17F-7DD9021F40F7}"/>
              </a:ext>
            </a:extLst>
          </p:cNvPr>
          <p:cNvSpPr txBox="1"/>
          <p:nvPr/>
        </p:nvSpPr>
        <p:spPr>
          <a:xfrm>
            <a:off x="0" y="1292723"/>
            <a:ext cx="9143999" cy="1231106"/>
          </a:xfrm>
          <a:prstGeom prst="rect">
            <a:avLst/>
          </a:prstGeom>
          <a:noFill/>
          <a:effectLst>
            <a:outerShdw blurRad="63500" sx="102000" sy="102000" algn="ctr" rotWithShape="0">
              <a:prstClr val="black">
                <a:alpha val="40000"/>
              </a:prstClr>
            </a:outerShdw>
          </a:effectLst>
        </p:spPr>
        <p:txBody>
          <a:bodyPr wrap="square">
            <a:spAutoFit/>
          </a:bodyPr>
          <a:lstStyle/>
          <a:p>
            <a:r>
              <a:rPr lang="en-US" sz="2800" b="1" dirty="0"/>
              <a:t>Python Simulation Result</a:t>
            </a:r>
          </a:p>
          <a:p>
            <a:r>
              <a:rPr lang="en-US" dirty="0"/>
              <a:t>Detection Delay vs Threshold</a:t>
            </a:r>
            <a:br>
              <a:rPr lang="en-US" sz="2800" dirty="0"/>
            </a:br>
            <a:endParaRPr lang="en-US" sz="2800" b="1" dirty="0">
              <a:solidFill>
                <a:schemeClr val="tx2">
                  <a:lumMod val="50000"/>
                </a:schemeClr>
              </a:solidFill>
            </a:endParaRPr>
          </a:p>
        </p:txBody>
      </p:sp>
    </p:spTree>
    <p:extLst>
      <p:ext uri="{BB962C8B-B14F-4D97-AF65-F5344CB8AC3E}">
        <p14:creationId xmlns:p14="http://schemas.microsoft.com/office/powerpoint/2010/main" val="1503457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a:extLst>
            <a:ext uri="{FF2B5EF4-FFF2-40B4-BE49-F238E27FC236}">
              <a16:creationId xmlns:a16="http://schemas.microsoft.com/office/drawing/2014/main" id="{F9E44BBA-6BEE-0CC7-AAEE-3D6E022B07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534878-795E-4C2F-A0C2-CCC45E5E42ED}"/>
              </a:ext>
            </a:extLst>
          </p:cNvPr>
          <p:cNvSpPr>
            <a:spLocks noGrp="1"/>
          </p:cNvSpPr>
          <p:nvPr>
            <p:ph type="ctrTitle"/>
          </p:nvPr>
        </p:nvSpPr>
        <p:spPr>
          <a:xfrm>
            <a:off x="0" y="37190"/>
            <a:ext cx="9144000" cy="1470025"/>
          </a:xfrm>
        </p:spPr>
        <p:txBody>
          <a:bodyPr>
            <a:noAutofit/>
          </a:bodyPr>
          <a:lstStyle/>
          <a:p>
            <a:r>
              <a:rPr lang="en-US" sz="3600" b="1" dirty="0">
                <a:solidFill>
                  <a:schemeClr val="tx2">
                    <a:lumMod val="50000"/>
                  </a:schemeClr>
                </a:solidFill>
              </a:rPr>
              <a:t>Parser &amp; Deparser Graph for P4-DVPF Demo</a:t>
            </a:r>
          </a:p>
        </p:txBody>
      </p:sp>
      <p:pic>
        <p:nvPicPr>
          <p:cNvPr id="2055" name="Picture 7" descr="A yellow letter on a blue background&#10;&#10;AI-generated content may be incorrect.">
            <a:extLst>
              <a:ext uri="{FF2B5EF4-FFF2-40B4-BE49-F238E27FC236}">
                <a16:creationId xmlns:a16="http://schemas.microsoft.com/office/drawing/2014/main" id="{42DCD875-7995-1E9C-BAB2-8003DD27A6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0347" y="37190"/>
            <a:ext cx="828675" cy="8191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FAE289F-2AF2-697C-10C4-54ADB86828BA}"/>
              </a:ext>
            </a:extLst>
          </p:cNvPr>
          <p:cNvSpPr>
            <a:spLocks noChangeArrowheads="1"/>
          </p:cNvSpPr>
          <p:nvPr/>
        </p:nvSpPr>
        <p:spPr bwMode="auto">
          <a:xfrm>
            <a:off x="978010" y="-203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E5FAC0E1-D7B3-11B3-8978-E800CAA1BF52}"/>
              </a:ext>
            </a:extLst>
          </p:cNvPr>
          <p:cNvSpPr txBox="1"/>
          <p:nvPr/>
        </p:nvSpPr>
        <p:spPr>
          <a:xfrm>
            <a:off x="0" y="1292723"/>
            <a:ext cx="9143999" cy="954107"/>
          </a:xfrm>
          <a:prstGeom prst="rect">
            <a:avLst/>
          </a:prstGeom>
          <a:noFill/>
          <a:effectLst>
            <a:outerShdw blurRad="63500" sx="102000" sy="102000" algn="ctr" rotWithShape="0">
              <a:prstClr val="black">
                <a:alpha val="40000"/>
              </a:prstClr>
            </a:outerShdw>
          </a:effectLst>
        </p:spPr>
        <p:txBody>
          <a:bodyPr wrap="square">
            <a:spAutoFit/>
          </a:bodyPr>
          <a:lstStyle/>
          <a:p>
            <a:br>
              <a:rPr lang="en-US" sz="2800" dirty="0"/>
            </a:br>
            <a:endParaRPr lang="en-US" sz="2800" b="1" dirty="0">
              <a:solidFill>
                <a:schemeClr val="tx2">
                  <a:lumMod val="50000"/>
                </a:schemeClr>
              </a:solidFill>
            </a:endParaRPr>
          </a:p>
        </p:txBody>
      </p:sp>
      <p:pic>
        <p:nvPicPr>
          <p:cNvPr id="5" name="Picture 4">
            <a:extLst>
              <a:ext uri="{FF2B5EF4-FFF2-40B4-BE49-F238E27FC236}">
                <a16:creationId xmlns:a16="http://schemas.microsoft.com/office/drawing/2014/main" id="{4197DB0E-98E3-7620-ACE9-AE36F3CC5B06}"/>
              </a:ext>
            </a:extLst>
          </p:cNvPr>
          <p:cNvPicPr>
            <a:picLocks noChangeAspect="1"/>
          </p:cNvPicPr>
          <p:nvPr/>
        </p:nvPicPr>
        <p:blipFill>
          <a:blip r:embed="rId3"/>
          <a:stretch>
            <a:fillRect/>
          </a:stretch>
        </p:blipFill>
        <p:spPr>
          <a:xfrm>
            <a:off x="336062" y="1450391"/>
            <a:ext cx="8417169" cy="3931664"/>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955625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a:extLst>
            <a:ext uri="{FF2B5EF4-FFF2-40B4-BE49-F238E27FC236}">
              <a16:creationId xmlns:a16="http://schemas.microsoft.com/office/drawing/2014/main" id="{430503CC-0881-8FCA-CB31-A582F886CD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75BC12-33CA-F14F-DBE9-87243EFBBD02}"/>
              </a:ext>
            </a:extLst>
          </p:cNvPr>
          <p:cNvSpPr>
            <a:spLocks noGrp="1"/>
          </p:cNvSpPr>
          <p:nvPr>
            <p:ph type="ctrTitle"/>
          </p:nvPr>
        </p:nvSpPr>
        <p:spPr>
          <a:xfrm>
            <a:off x="0" y="37190"/>
            <a:ext cx="9144000" cy="1470025"/>
          </a:xfrm>
        </p:spPr>
        <p:txBody>
          <a:bodyPr>
            <a:noAutofit/>
          </a:bodyPr>
          <a:lstStyle/>
          <a:p>
            <a:r>
              <a:rPr lang="en-US" sz="3600" b="1" dirty="0">
                <a:solidFill>
                  <a:schemeClr val="tx2">
                    <a:lumMod val="50000"/>
                  </a:schemeClr>
                </a:solidFill>
              </a:rPr>
              <a:t>Lessons Learned</a:t>
            </a:r>
          </a:p>
        </p:txBody>
      </p:sp>
      <p:pic>
        <p:nvPicPr>
          <p:cNvPr id="2055" name="Picture 7" descr="A yellow letter on a blue background&#10;&#10;AI-generated content may be incorrect.">
            <a:extLst>
              <a:ext uri="{FF2B5EF4-FFF2-40B4-BE49-F238E27FC236}">
                <a16:creationId xmlns:a16="http://schemas.microsoft.com/office/drawing/2014/main" id="{0D63BE38-F5A1-8745-28F1-BF6D13B5E8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0347" y="37190"/>
            <a:ext cx="828675" cy="8191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5524A040-8BCE-A708-F98A-5FDB74DC186B}"/>
              </a:ext>
            </a:extLst>
          </p:cNvPr>
          <p:cNvSpPr>
            <a:spLocks noChangeArrowheads="1"/>
          </p:cNvSpPr>
          <p:nvPr/>
        </p:nvSpPr>
        <p:spPr bwMode="auto">
          <a:xfrm>
            <a:off x="978010" y="-203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FF6C07E2-A1C7-4520-FC6D-1BFFE3F8CA86}"/>
              </a:ext>
            </a:extLst>
          </p:cNvPr>
          <p:cNvSpPr txBox="1"/>
          <p:nvPr/>
        </p:nvSpPr>
        <p:spPr>
          <a:xfrm>
            <a:off x="0" y="1305743"/>
            <a:ext cx="9143999" cy="3293209"/>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tx2">
                    <a:lumMod val="50000"/>
                  </a:schemeClr>
                </a:solidFill>
              </a:rPr>
              <a:t>Bridging theory to implementation</a:t>
            </a:r>
          </a:p>
          <a:p>
            <a:pPr marL="285750" indent="-285750">
              <a:buFont typeface="Arial" panose="020B0604020202020204" pitchFamily="34" charset="0"/>
              <a:buChar char="•"/>
            </a:pPr>
            <a:r>
              <a:rPr lang="en-US" dirty="0">
                <a:solidFill>
                  <a:schemeClr val="tx2">
                    <a:lumMod val="50000"/>
                  </a:schemeClr>
                </a:solidFill>
              </a:rPr>
              <a:t>Understanding SDN deeply</a:t>
            </a:r>
          </a:p>
          <a:p>
            <a:pPr marL="285750" indent="-285750">
              <a:buFont typeface="Arial" panose="020B0604020202020204" pitchFamily="34" charset="0"/>
              <a:buChar char="•"/>
            </a:pPr>
            <a:r>
              <a:rPr lang="en-US" dirty="0">
                <a:solidFill>
                  <a:schemeClr val="tx2">
                    <a:lumMod val="50000"/>
                  </a:schemeClr>
                </a:solidFill>
              </a:rPr>
              <a:t>Importance of attack simulation</a:t>
            </a:r>
          </a:p>
          <a:p>
            <a:endParaRPr lang="en-US" sz="2800" b="1" dirty="0">
              <a:solidFill>
                <a:srgbClr val="FFC000"/>
              </a:solidFill>
            </a:endParaRPr>
          </a:p>
          <a:p>
            <a:r>
              <a:rPr lang="en-US" sz="2000" dirty="0">
                <a:solidFill>
                  <a:schemeClr val="tx2">
                    <a:lumMod val="50000"/>
                  </a:schemeClr>
                </a:solidFill>
              </a:rPr>
              <a:t>After trying to replicate the paper, I understood that the hardest part is not the idea of detection itself, but translating a research concept into something practical inside the data plane. </a:t>
            </a:r>
          </a:p>
          <a:p>
            <a:endParaRPr lang="en-US" sz="2000" dirty="0">
              <a:solidFill>
                <a:schemeClr val="tx2">
                  <a:lumMod val="50000"/>
                </a:schemeClr>
              </a:solidFill>
            </a:endParaRPr>
          </a:p>
          <a:p>
            <a:r>
              <a:rPr lang="en-US" sz="2000" dirty="0">
                <a:solidFill>
                  <a:schemeClr val="tx2">
                    <a:lumMod val="50000"/>
                  </a:schemeClr>
                </a:solidFill>
              </a:rPr>
              <a:t>Complex methods in papers often need simpler approximations during implementation, especially when real switch logic has computational limits.</a:t>
            </a:r>
          </a:p>
        </p:txBody>
      </p:sp>
    </p:spTree>
    <p:extLst>
      <p:ext uri="{BB962C8B-B14F-4D97-AF65-F5344CB8AC3E}">
        <p14:creationId xmlns:p14="http://schemas.microsoft.com/office/powerpoint/2010/main" val="1519056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a:extLst>
            <a:ext uri="{FF2B5EF4-FFF2-40B4-BE49-F238E27FC236}">
              <a16:creationId xmlns:a16="http://schemas.microsoft.com/office/drawing/2014/main" id="{EC992318-722C-922F-4471-3557AD10B1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4AE682-5A5A-F7D1-C36B-88B66956DF2A}"/>
              </a:ext>
            </a:extLst>
          </p:cNvPr>
          <p:cNvSpPr>
            <a:spLocks noGrp="1"/>
          </p:cNvSpPr>
          <p:nvPr>
            <p:ph type="ctrTitle"/>
          </p:nvPr>
        </p:nvSpPr>
        <p:spPr>
          <a:xfrm>
            <a:off x="0" y="37190"/>
            <a:ext cx="9144000" cy="1470025"/>
          </a:xfrm>
        </p:spPr>
        <p:txBody>
          <a:bodyPr>
            <a:noAutofit/>
          </a:bodyPr>
          <a:lstStyle/>
          <a:p>
            <a:r>
              <a:rPr lang="en-US" sz="3600" b="1" dirty="0">
                <a:solidFill>
                  <a:schemeClr val="tx2">
                    <a:lumMod val="50000"/>
                  </a:schemeClr>
                </a:solidFill>
              </a:rPr>
              <a:t>Conclusion</a:t>
            </a:r>
          </a:p>
        </p:txBody>
      </p:sp>
      <p:pic>
        <p:nvPicPr>
          <p:cNvPr id="2055" name="Picture 7" descr="A yellow letter on a blue background&#10;&#10;AI-generated content may be incorrect.">
            <a:extLst>
              <a:ext uri="{FF2B5EF4-FFF2-40B4-BE49-F238E27FC236}">
                <a16:creationId xmlns:a16="http://schemas.microsoft.com/office/drawing/2014/main" id="{A13CA40E-F327-2567-98B2-674D2D11D4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0347" y="37190"/>
            <a:ext cx="828675" cy="8191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F9B35D93-6A21-4009-3FA8-14CEAC9D9536}"/>
              </a:ext>
            </a:extLst>
          </p:cNvPr>
          <p:cNvSpPr>
            <a:spLocks noChangeArrowheads="1"/>
          </p:cNvSpPr>
          <p:nvPr/>
        </p:nvSpPr>
        <p:spPr bwMode="auto">
          <a:xfrm>
            <a:off x="978010" y="-203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55C87606-0978-3795-4A0D-AEE8E33A2950}"/>
              </a:ext>
            </a:extLst>
          </p:cNvPr>
          <p:cNvSpPr txBox="1"/>
          <p:nvPr/>
        </p:nvSpPr>
        <p:spPr>
          <a:xfrm>
            <a:off x="0" y="1747605"/>
            <a:ext cx="9143999" cy="3416320"/>
          </a:xfrm>
          <a:prstGeom prst="rect">
            <a:avLst/>
          </a:prstGeom>
          <a:noFill/>
        </p:spPr>
        <p:txBody>
          <a:bodyPr wrap="square">
            <a:spAutoFit/>
          </a:bodyPr>
          <a:lstStyle/>
          <a:p>
            <a:r>
              <a:rPr lang="en-US" sz="2400" dirty="0"/>
              <a:t>This project successfully replicated the core idea of the P4-DVPF framework by moving attack detection into the programmable data plane. The implementation demonstrated that the switch can detect abnormal traffic patterns and packet tampering in real time using threshold-based logic. </a:t>
            </a:r>
          </a:p>
          <a:p>
            <a:endParaRPr lang="en-US" sz="2400" dirty="0"/>
          </a:p>
          <a:p>
            <a:r>
              <a:rPr lang="en-US" sz="2400" dirty="0"/>
              <a:t>Results from both the P4 switch and Python simulations showed that anomalous traffic can be identified and mitigated without relying on the SDN controller, leading to faster response and lower latency.</a:t>
            </a:r>
            <a:endParaRPr lang="en-US" sz="2400" b="1" dirty="0">
              <a:solidFill>
                <a:schemeClr val="tx2">
                  <a:lumMod val="50000"/>
                </a:schemeClr>
              </a:solidFill>
            </a:endParaRPr>
          </a:p>
        </p:txBody>
      </p:sp>
    </p:spTree>
    <p:extLst>
      <p:ext uri="{BB962C8B-B14F-4D97-AF65-F5344CB8AC3E}">
        <p14:creationId xmlns:p14="http://schemas.microsoft.com/office/powerpoint/2010/main" val="1657530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a:extLst>
            <a:ext uri="{FF2B5EF4-FFF2-40B4-BE49-F238E27FC236}">
              <a16:creationId xmlns:a16="http://schemas.microsoft.com/office/drawing/2014/main" id="{0ACE97D8-5F2A-29B4-E8C7-7BA763FD9E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5CB161-A6CE-C7BD-246D-36ECEC65BEB0}"/>
              </a:ext>
            </a:extLst>
          </p:cNvPr>
          <p:cNvSpPr>
            <a:spLocks noGrp="1"/>
          </p:cNvSpPr>
          <p:nvPr>
            <p:ph type="ctrTitle"/>
          </p:nvPr>
        </p:nvSpPr>
        <p:spPr>
          <a:xfrm>
            <a:off x="1" y="2693987"/>
            <a:ext cx="9144000" cy="1470025"/>
          </a:xfrm>
        </p:spPr>
        <p:txBody>
          <a:bodyPr>
            <a:noAutofit/>
          </a:bodyPr>
          <a:lstStyle/>
          <a:p>
            <a:r>
              <a:rPr lang="en-US" sz="2800" b="1" dirty="0">
                <a:solidFill>
                  <a:schemeClr val="tx2">
                    <a:lumMod val="50000"/>
                  </a:schemeClr>
                </a:solidFill>
              </a:rPr>
              <a:t>END OF PRESENTATION</a:t>
            </a:r>
            <a:br>
              <a:rPr lang="en-US" sz="2800" b="1" dirty="0">
                <a:solidFill>
                  <a:schemeClr val="tx2">
                    <a:lumMod val="50000"/>
                  </a:schemeClr>
                </a:solidFill>
              </a:rPr>
            </a:br>
            <a:r>
              <a:rPr lang="en-US" sz="2800" b="1" dirty="0">
                <a:solidFill>
                  <a:schemeClr val="tx2">
                    <a:lumMod val="50000"/>
                  </a:schemeClr>
                </a:solidFill>
              </a:rPr>
              <a:t>THANK YOU </a:t>
            </a:r>
            <a:br>
              <a:rPr lang="en-US" sz="2800" b="1" dirty="0">
                <a:solidFill>
                  <a:schemeClr val="bg1"/>
                </a:solidFill>
              </a:rPr>
            </a:br>
            <a:endParaRPr lang="en-US" sz="2800" b="1" dirty="0">
              <a:solidFill>
                <a:schemeClr val="bg1"/>
              </a:solidFill>
            </a:endParaRPr>
          </a:p>
        </p:txBody>
      </p:sp>
      <p:pic>
        <p:nvPicPr>
          <p:cNvPr id="2055" name="Picture 7" descr="A yellow letter on a blue background&#10;&#10;AI-generated content may be incorrect.">
            <a:extLst>
              <a:ext uri="{FF2B5EF4-FFF2-40B4-BE49-F238E27FC236}">
                <a16:creationId xmlns:a16="http://schemas.microsoft.com/office/drawing/2014/main" id="{306AB077-EF0F-A271-CFF2-2E1C06CE63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0347" y="37190"/>
            <a:ext cx="828675" cy="8191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626B5874-B354-E5AF-CCD7-D01F03678770}"/>
              </a:ext>
            </a:extLst>
          </p:cNvPr>
          <p:cNvSpPr>
            <a:spLocks noChangeArrowheads="1"/>
          </p:cNvSpPr>
          <p:nvPr/>
        </p:nvSpPr>
        <p:spPr bwMode="auto">
          <a:xfrm>
            <a:off x="978010" y="-203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8593863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1608</TotalTime>
  <Words>1059</Words>
  <Application>Microsoft Office PowerPoint</Application>
  <PresentationFormat>On-screen Show (4:3)</PresentationFormat>
  <Paragraphs>146</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Arial</vt:lpstr>
      <vt:lpstr>Calibri</vt:lpstr>
      <vt:lpstr>Times New Roman</vt:lpstr>
      <vt:lpstr>Office Theme</vt:lpstr>
      <vt:lpstr>P4-DVPF Dynamic Verification of Packets Forwarding Based on P4 for SDN</vt:lpstr>
      <vt:lpstr>P4-DVPF Final Project</vt:lpstr>
      <vt:lpstr>Paper Focus</vt:lpstr>
      <vt:lpstr>Main Contribution</vt:lpstr>
      <vt:lpstr>Attack Types</vt:lpstr>
      <vt:lpstr>Implementation &amp; Detection Mechanism</vt:lpstr>
      <vt:lpstr>Replication Setup &amp; Demo</vt:lpstr>
      <vt:lpstr>Replication Setup &amp; Demo </vt:lpstr>
      <vt:lpstr>Replication Setup &amp; Demo Result </vt:lpstr>
      <vt:lpstr>Replication Setup &amp; Demo Result</vt:lpstr>
      <vt:lpstr>Replication Setup &amp; Demo Result</vt:lpstr>
      <vt:lpstr>Replication Setup &amp; Demo Result</vt:lpstr>
      <vt:lpstr>Replication Setup &amp; Demo Result</vt:lpstr>
      <vt:lpstr>Replication Setup &amp; Demo Result</vt:lpstr>
      <vt:lpstr>Replication Setup &amp; Demo Result</vt:lpstr>
      <vt:lpstr>Replication Setup &amp; Demo Result</vt:lpstr>
      <vt:lpstr>Parser &amp; Deparser Graph for P4-DVPF Demo</vt:lpstr>
      <vt:lpstr>Lessons Learned</vt:lpstr>
      <vt:lpstr>Conclusion</vt:lpstr>
      <vt:lpstr>END OF PRESENTATION THANK YOU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hasan alabudi</cp:lastModifiedBy>
  <cp:revision>11</cp:revision>
  <dcterms:created xsi:type="dcterms:W3CDTF">2013-01-27T09:14:16Z</dcterms:created>
  <dcterms:modified xsi:type="dcterms:W3CDTF">2026-04-16T23:03:50Z</dcterms:modified>
  <cp:category/>
</cp:coreProperties>
</file>